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7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snapToGrid="0">
      <p:cViewPr varScale="1">
        <p:scale>
          <a:sx n="91" d="100"/>
          <a:sy n="91" d="100"/>
        </p:scale>
        <p:origin x="79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54CE1-7F8E-D206-B4E8-1C128ECEE45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177B8CB2-10A1-D227-9F72-BFCDB56C86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62371C32-2232-4E06-EA1C-32105A5FC9E6}"/>
              </a:ext>
            </a:extLst>
          </p:cNvPr>
          <p:cNvSpPr>
            <a:spLocks noGrp="1"/>
          </p:cNvSpPr>
          <p:nvPr>
            <p:ph type="dt" sz="half" idx="10"/>
          </p:nvPr>
        </p:nvSpPr>
        <p:spPr/>
        <p:txBody>
          <a:bodyPr/>
          <a:lstStyle/>
          <a:p>
            <a:fld id="{21322613-0FFD-41C3-999C-F0AC190250D5}" type="datetimeFigureOut">
              <a:rPr lang="en-IN" smtClean="0"/>
              <a:t>02-08-2026</a:t>
            </a:fld>
            <a:endParaRPr lang="en-IN"/>
          </a:p>
        </p:txBody>
      </p:sp>
      <p:sp>
        <p:nvSpPr>
          <p:cNvPr id="5" name="Footer Placeholder 4">
            <a:extLst>
              <a:ext uri="{FF2B5EF4-FFF2-40B4-BE49-F238E27FC236}">
                <a16:creationId xmlns:a16="http://schemas.microsoft.com/office/drawing/2014/main" id="{75A92952-4F9C-63DF-B8E5-72E0321482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2AAD50-1FFB-E201-7C0C-EBCCC5DC5649}"/>
              </a:ext>
            </a:extLst>
          </p:cNvPr>
          <p:cNvSpPr>
            <a:spLocks noGrp="1"/>
          </p:cNvSpPr>
          <p:nvPr>
            <p:ph type="sldNum" sz="quarter" idx="12"/>
          </p:nvPr>
        </p:nvSpPr>
        <p:spPr/>
        <p:txBody>
          <a:bodyPr/>
          <a:lstStyle/>
          <a:p>
            <a:fld id="{EE0FFEF1-E09C-425A-B53A-648F8300D01F}" type="slidenum">
              <a:rPr lang="en-IN" smtClean="0"/>
              <a:t>‹#›</a:t>
            </a:fld>
            <a:endParaRPr lang="en-IN"/>
          </a:p>
        </p:txBody>
      </p:sp>
    </p:spTree>
    <p:extLst>
      <p:ext uri="{BB962C8B-B14F-4D97-AF65-F5344CB8AC3E}">
        <p14:creationId xmlns:p14="http://schemas.microsoft.com/office/powerpoint/2010/main" val="768430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DC9DF-7004-3232-4F63-68DBBB0DFE77}"/>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6615A117-0FF6-0404-1747-99C3B4CA520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17B4CF2A-6FCB-4C6C-B725-9BD96F9C5CD5}"/>
              </a:ext>
            </a:extLst>
          </p:cNvPr>
          <p:cNvSpPr>
            <a:spLocks noGrp="1"/>
          </p:cNvSpPr>
          <p:nvPr>
            <p:ph type="dt" sz="half" idx="10"/>
          </p:nvPr>
        </p:nvSpPr>
        <p:spPr/>
        <p:txBody>
          <a:bodyPr/>
          <a:lstStyle/>
          <a:p>
            <a:fld id="{21322613-0FFD-41C3-999C-F0AC190250D5}" type="datetimeFigureOut">
              <a:rPr lang="en-IN" smtClean="0"/>
              <a:t>02-08-2026</a:t>
            </a:fld>
            <a:endParaRPr lang="en-IN"/>
          </a:p>
        </p:txBody>
      </p:sp>
      <p:sp>
        <p:nvSpPr>
          <p:cNvPr id="5" name="Footer Placeholder 4">
            <a:extLst>
              <a:ext uri="{FF2B5EF4-FFF2-40B4-BE49-F238E27FC236}">
                <a16:creationId xmlns:a16="http://schemas.microsoft.com/office/drawing/2014/main" id="{17F55D53-9765-26D3-6737-7CFF280D17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EBA9AB-49FC-0B06-A032-320199951D6F}"/>
              </a:ext>
            </a:extLst>
          </p:cNvPr>
          <p:cNvSpPr>
            <a:spLocks noGrp="1"/>
          </p:cNvSpPr>
          <p:nvPr>
            <p:ph type="sldNum" sz="quarter" idx="12"/>
          </p:nvPr>
        </p:nvSpPr>
        <p:spPr/>
        <p:txBody>
          <a:bodyPr/>
          <a:lstStyle/>
          <a:p>
            <a:fld id="{EE0FFEF1-E09C-425A-B53A-648F8300D01F}" type="slidenum">
              <a:rPr lang="en-IN" smtClean="0"/>
              <a:t>‹#›</a:t>
            </a:fld>
            <a:endParaRPr lang="en-IN"/>
          </a:p>
        </p:txBody>
      </p:sp>
    </p:spTree>
    <p:extLst>
      <p:ext uri="{BB962C8B-B14F-4D97-AF65-F5344CB8AC3E}">
        <p14:creationId xmlns:p14="http://schemas.microsoft.com/office/powerpoint/2010/main" val="794621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EF969-4AAE-3C72-05E7-CBEF269FC27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BD495804-A8BE-6CDB-12C3-E7650F109F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175F6FD-46F2-23EF-1AB8-240054B7AE7B}"/>
              </a:ext>
            </a:extLst>
          </p:cNvPr>
          <p:cNvSpPr>
            <a:spLocks noGrp="1"/>
          </p:cNvSpPr>
          <p:nvPr>
            <p:ph type="dt" sz="half" idx="10"/>
          </p:nvPr>
        </p:nvSpPr>
        <p:spPr/>
        <p:txBody>
          <a:bodyPr/>
          <a:lstStyle/>
          <a:p>
            <a:fld id="{21322613-0FFD-41C3-999C-F0AC190250D5}" type="datetimeFigureOut">
              <a:rPr lang="en-IN" smtClean="0"/>
              <a:t>02-08-2026</a:t>
            </a:fld>
            <a:endParaRPr lang="en-IN"/>
          </a:p>
        </p:txBody>
      </p:sp>
      <p:sp>
        <p:nvSpPr>
          <p:cNvPr id="5" name="Footer Placeholder 4">
            <a:extLst>
              <a:ext uri="{FF2B5EF4-FFF2-40B4-BE49-F238E27FC236}">
                <a16:creationId xmlns:a16="http://schemas.microsoft.com/office/drawing/2014/main" id="{4F060883-6139-207D-4381-7225C8339B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9A9D70-D546-97A1-305C-3DB7C293D0C0}"/>
              </a:ext>
            </a:extLst>
          </p:cNvPr>
          <p:cNvSpPr>
            <a:spLocks noGrp="1"/>
          </p:cNvSpPr>
          <p:nvPr>
            <p:ph type="sldNum" sz="quarter" idx="12"/>
          </p:nvPr>
        </p:nvSpPr>
        <p:spPr/>
        <p:txBody>
          <a:bodyPr/>
          <a:lstStyle/>
          <a:p>
            <a:fld id="{EE0FFEF1-E09C-425A-B53A-648F8300D01F}" type="slidenum">
              <a:rPr lang="en-IN" smtClean="0"/>
              <a:t>‹#›</a:t>
            </a:fld>
            <a:endParaRPr lang="en-IN"/>
          </a:p>
        </p:txBody>
      </p:sp>
    </p:spTree>
    <p:extLst>
      <p:ext uri="{BB962C8B-B14F-4D97-AF65-F5344CB8AC3E}">
        <p14:creationId xmlns:p14="http://schemas.microsoft.com/office/powerpoint/2010/main" val="866583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50C5F-9D91-12FF-35D4-283EADDCBC61}"/>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82BADF33-1C23-41AF-6F25-086462E8295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A4B7D29A-D427-7A1D-DD24-B950428EF28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ED73FD6F-5C41-C855-9904-A540A15D3F90}"/>
              </a:ext>
            </a:extLst>
          </p:cNvPr>
          <p:cNvSpPr>
            <a:spLocks noGrp="1"/>
          </p:cNvSpPr>
          <p:nvPr>
            <p:ph type="dt" sz="half" idx="10"/>
          </p:nvPr>
        </p:nvSpPr>
        <p:spPr/>
        <p:txBody>
          <a:bodyPr/>
          <a:lstStyle/>
          <a:p>
            <a:fld id="{21322613-0FFD-41C3-999C-F0AC190250D5}" type="datetimeFigureOut">
              <a:rPr lang="en-IN" smtClean="0"/>
              <a:t>02-08-2026</a:t>
            </a:fld>
            <a:endParaRPr lang="en-IN"/>
          </a:p>
        </p:txBody>
      </p:sp>
      <p:sp>
        <p:nvSpPr>
          <p:cNvPr id="6" name="Footer Placeholder 5">
            <a:extLst>
              <a:ext uri="{FF2B5EF4-FFF2-40B4-BE49-F238E27FC236}">
                <a16:creationId xmlns:a16="http://schemas.microsoft.com/office/drawing/2014/main" id="{C8BB6A20-C03F-1BA4-24F5-E4F1A77FE5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5FF71A8-2C91-69CD-4CBB-66F5F5CB2C04}"/>
              </a:ext>
            </a:extLst>
          </p:cNvPr>
          <p:cNvSpPr>
            <a:spLocks noGrp="1"/>
          </p:cNvSpPr>
          <p:nvPr>
            <p:ph type="sldNum" sz="quarter" idx="12"/>
          </p:nvPr>
        </p:nvSpPr>
        <p:spPr/>
        <p:txBody>
          <a:bodyPr/>
          <a:lstStyle/>
          <a:p>
            <a:fld id="{EE0FFEF1-E09C-425A-B53A-648F8300D01F}" type="slidenum">
              <a:rPr lang="en-IN" smtClean="0"/>
              <a:t>‹#›</a:t>
            </a:fld>
            <a:endParaRPr lang="en-IN"/>
          </a:p>
        </p:txBody>
      </p:sp>
    </p:spTree>
    <p:extLst>
      <p:ext uri="{BB962C8B-B14F-4D97-AF65-F5344CB8AC3E}">
        <p14:creationId xmlns:p14="http://schemas.microsoft.com/office/powerpoint/2010/main" val="153317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42159-E0C3-7C0C-6F5F-21F3E126F736}"/>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7773A3E2-6FBD-9B4D-EC9D-3897099CBB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AD1C311-DCFF-1500-A1EA-0312474D1458}"/>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77E9E570-8B4A-11B9-77B8-CC089AA364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48FCB73-5076-B8D8-177E-0C3FBF40C8E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63675C14-E1AD-DF7B-64FB-4AFC963FD23E}"/>
              </a:ext>
            </a:extLst>
          </p:cNvPr>
          <p:cNvSpPr>
            <a:spLocks noGrp="1"/>
          </p:cNvSpPr>
          <p:nvPr>
            <p:ph type="dt" sz="half" idx="10"/>
          </p:nvPr>
        </p:nvSpPr>
        <p:spPr/>
        <p:txBody>
          <a:bodyPr/>
          <a:lstStyle/>
          <a:p>
            <a:fld id="{21322613-0FFD-41C3-999C-F0AC190250D5}" type="datetimeFigureOut">
              <a:rPr lang="en-IN" smtClean="0"/>
              <a:t>02-08-2026</a:t>
            </a:fld>
            <a:endParaRPr lang="en-IN"/>
          </a:p>
        </p:txBody>
      </p:sp>
      <p:sp>
        <p:nvSpPr>
          <p:cNvPr id="8" name="Footer Placeholder 7">
            <a:extLst>
              <a:ext uri="{FF2B5EF4-FFF2-40B4-BE49-F238E27FC236}">
                <a16:creationId xmlns:a16="http://schemas.microsoft.com/office/drawing/2014/main" id="{C8E725E0-1738-8A7F-F7DE-F445D732E4C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1A9936F-D18F-E654-0824-2343796DAB77}"/>
              </a:ext>
            </a:extLst>
          </p:cNvPr>
          <p:cNvSpPr>
            <a:spLocks noGrp="1"/>
          </p:cNvSpPr>
          <p:nvPr>
            <p:ph type="sldNum" sz="quarter" idx="12"/>
          </p:nvPr>
        </p:nvSpPr>
        <p:spPr/>
        <p:txBody>
          <a:bodyPr/>
          <a:lstStyle/>
          <a:p>
            <a:fld id="{EE0FFEF1-E09C-425A-B53A-648F8300D01F}" type="slidenum">
              <a:rPr lang="en-IN" smtClean="0"/>
              <a:t>‹#›</a:t>
            </a:fld>
            <a:endParaRPr lang="en-IN"/>
          </a:p>
        </p:txBody>
      </p:sp>
    </p:spTree>
    <p:extLst>
      <p:ext uri="{BB962C8B-B14F-4D97-AF65-F5344CB8AC3E}">
        <p14:creationId xmlns:p14="http://schemas.microsoft.com/office/powerpoint/2010/main" val="3478392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FD587-E23E-4E9B-389C-55D03FEE5DDB}"/>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3FA78EBE-0C26-AD5E-3F93-E9E4554AFC60}"/>
              </a:ext>
            </a:extLst>
          </p:cNvPr>
          <p:cNvSpPr>
            <a:spLocks noGrp="1"/>
          </p:cNvSpPr>
          <p:nvPr>
            <p:ph type="dt" sz="half" idx="10"/>
          </p:nvPr>
        </p:nvSpPr>
        <p:spPr/>
        <p:txBody>
          <a:bodyPr/>
          <a:lstStyle/>
          <a:p>
            <a:fld id="{21322613-0FFD-41C3-999C-F0AC190250D5}" type="datetimeFigureOut">
              <a:rPr lang="en-IN" smtClean="0"/>
              <a:t>02-08-2026</a:t>
            </a:fld>
            <a:endParaRPr lang="en-IN"/>
          </a:p>
        </p:txBody>
      </p:sp>
      <p:sp>
        <p:nvSpPr>
          <p:cNvPr id="4" name="Footer Placeholder 3">
            <a:extLst>
              <a:ext uri="{FF2B5EF4-FFF2-40B4-BE49-F238E27FC236}">
                <a16:creationId xmlns:a16="http://schemas.microsoft.com/office/drawing/2014/main" id="{53E35079-1F0A-0956-BA8F-B92DE07B02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EF994B3-9D48-548A-5B19-047AE369F994}"/>
              </a:ext>
            </a:extLst>
          </p:cNvPr>
          <p:cNvSpPr>
            <a:spLocks noGrp="1"/>
          </p:cNvSpPr>
          <p:nvPr>
            <p:ph type="sldNum" sz="quarter" idx="12"/>
          </p:nvPr>
        </p:nvSpPr>
        <p:spPr/>
        <p:txBody>
          <a:bodyPr/>
          <a:lstStyle/>
          <a:p>
            <a:fld id="{EE0FFEF1-E09C-425A-B53A-648F8300D01F}" type="slidenum">
              <a:rPr lang="en-IN" smtClean="0"/>
              <a:t>‹#›</a:t>
            </a:fld>
            <a:endParaRPr lang="en-IN"/>
          </a:p>
        </p:txBody>
      </p:sp>
    </p:spTree>
    <p:extLst>
      <p:ext uri="{BB962C8B-B14F-4D97-AF65-F5344CB8AC3E}">
        <p14:creationId xmlns:p14="http://schemas.microsoft.com/office/powerpoint/2010/main" val="789915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458941-4622-78DA-473F-A77EE49795B1}"/>
              </a:ext>
            </a:extLst>
          </p:cNvPr>
          <p:cNvSpPr>
            <a:spLocks noGrp="1"/>
          </p:cNvSpPr>
          <p:nvPr>
            <p:ph type="dt" sz="half" idx="10"/>
          </p:nvPr>
        </p:nvSpPr>
        <p:spPr/>
        <p:txBody>
          <a:bodyPr/>
          <a:lstStyle/>
          <a:p>
            <a:fld id="{21322613-0FFD-41C3-999C-F0AC190250D5}" type="datetimeFigureOut">
              <a:rPr lang="en-IN" smtClean="0"/>
              <a:t>02-08-2026</a:t>
            </a:fld>
            <a:endParaRPr lang="en-IN"/>
          </a:p>
        </p:txBody>
      </p:sp>
      <p:sp>
        <p:nvSpPr>
          <p:cNvPr id="3" name="Footer Placeholder 2">
            <a:extLst>
              <a:ext uri="{FF2B5EF4-FFF2-40B4-BE49-F238E27FC236}">
                <a16:creationId xmlns:a16="http://schemas.microsoft.com/office/drawing/2014/main" id="{AFD2F107-EBBF-61D8-A41E-F5B0C78EACE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9C093B4-BC77-F5CF-7B75-DDCB14C080D5}"/>
              </a:ext>
            </a:extLst>
          </p:cNvPr>
          <p:cNvSpPr>
            <a:spLocks noGrp="1"/>
          </p:cNvSpPr>
          <p:nvPr>
            <p:ph type="sldNum" sz="quarter" idx="12"/>
          </p:nvPr>
        </p:nvSpPr>
        <p:spPr/>
        <p:txBody>
          <a:bodyPr/>
          <a:lstStyle/>
          <a:p>
            <a:fld id="{EE0FFEF1-E09C-425A-B53A-648F8300D01F}" type="slidenum">
              <a:rPr lang="en-IN" smtClean="0"/>
              <a:t>‹#›</a:t>
            </a:fld>
            <a:endParaRPr lang="en-IN"/>
          </a:p>
        </p:txBody>
      </p:sp>
    </p:spTree>
    <p:extLst>
      <p:ext uri="{BB962C8B-B14F-4D97-AF65-F5344CB8AC3E}">
        <p14:creationId xmlns:p14="http://schemas.microsoft.com/office/powerpoint/2010/main" val="3048719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E1ABC-F138-A63A-292B-3DEA92A2995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E75249AD-F831-0B99-F6ED-8FAF48ACDF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A57CC8DF-EEA7-730A-AB7E-F247D58004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A90BCF9-63AC-5CE7-5374-FE2E6AAAF89A}"/>
              </a:ext>
            </a:extLst>
          </p:cNvPr>
          <p:cNvSpPr>
            <a:spLocks noGrp="1"/>
          </p:cNvSpPr>
          <p:nvPr>
            <p:ph type="dt" sz="half" idx="10"/>
          </p:nvPr>
        </p:nvSpPr>
        <p:spPr/>
        <p:txBody>
          <a:bodyPr/>
          <a:lstStyle/>
          <a:p>
            <a:fld id="{21322613-0FFD-41C3-999C-F0AC190250D5}" type="datetimeFigureOut">
              <a:rPr lang="en-IN" smtClean="0"/>
              <a:t>02-08-2026</a:t>
            </a:fld>
            <a:endParaRPr lang="en-IN"/>
          </a:p>
        </p:txBody>
      </p:sp>
      <p:sp>
        <p:nvSpPr>
          <p:cNvPr id="6" name="Footer Placeholder 5">
            <a:extLst>
              <a:ext uri="{FF2B5EF4-FFF2-40B4-BE49-F238E27FC236}">
                <a16:creationId xmlns:a16="http://schemas.microsoft.com/office/drawing/2014/main" id="{B3737C85-EAFA-C3E5-A0BE-3395ACFF04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AFAB4E-3617-9F84-6830-1E2A0C73222B}"/>
              </a:ext>
            </a:extLst>
          </p:cNvPr>
          <p:cNvSpPr>
            <a:spLocks noGrp="1"/>
          </p:cNvSpPr>
          <p:nvPr>
            <p:ph type="sldNum" sz="quarter" idx="12"/>
          </p:nvPr>
        </p:nvSpPr>
        <p:spPr/>
        <p:txBody>
          <a:bodyPr/>
          <a:lstStyle/>
          <a:p>
            <a:fld id="{EE0FFEF1-E09C-425A-B53A-648F8300D01F}" type="slidenum">
              <a:rPr lang="en-IN" smtClean="0"/>
              <a:t>‹#›</a:t>
            </a:fld>
            <a:endParaRPr lang="en-IN"/>
          </a:p>
        </p:txBody>
      </p:sp>
    </p:spTree>
    <p:extLst>
      <p:ext uri="{BB962C8B-B14F-4D97-AF65-F5344CB8AC3E}">
        <p14:creationId xmlns:p14="http://schemas.microsoft.com/office/powerpoint/2010/main" val="757058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6F539-F50D-FE2D-B4C3-5736725C781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D3A6F50B-D4C1-9C90-DAB5-77A2625449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DC2E156-01AF-91F7-99A6-6927B22D5B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E3B8A4-5B14-9E54-07B9-D93C159D198C}"/>
              </a:ext>
            </a:extLst>
          </p:cNvPr>
          <p:cNvSpPr>
            <a:spLocks noGrp="1"/>
          </p:cNvSpPr>
          <p:nvPr>
            <p:ph type="dt" sz="half" idx="10"/>
          </p:nvPr>
        </p:nvSpPr>
        <p:spPr/>
        <p:txBody>
          <a:bodyPr/>
          <a:lstStyle/>
          <a:p>
            <a:fld id="{21322613-0FFD-41C3-999C-F0AC190250D5}" type="datetimeFigureOut">
              <a:rPr lang="en-IN" smtClean="0"/>
              <a:t>02-08-2026</a:t>
            </a:fld>
            <a:endParaRPr lang="en-IN"/>
          </a:p>
        </p:txBody>
      </p:sp>
      <p:sp>
        <p:nvSpPr>
          <p:cNvPr id="6" name="Footer Placeholder 5">
            <a:extLst>
              <a:ext uri="{FF2B5EF4-FFF2-40B4-BE49-F238E27FC236}">
                <a16:creationId xmlns:a16="http://schemas.microsoft.com/office/drawing/2014/main" id="{2AD71A13-DD83-BFAB-731B-2B83555A28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F67F55-862A-FDA8-BF43-F9BBA928D143}"/>
              </a:ext>
            </a:extLst>
          </p:cNvPr>
          <p:cNvSpPr>
            <a:spLocks noGrp="1"/>
          </p:cNvSpPr>
          <p:nvPr>
            <p:ph type="sldNum" sz="quarter" idx="12"/>
          </p:nvPr>
        </p:nvSpPr>
        <p:spPr/>
        <p:txBody>
          <a:bodyPr/>
          <a:lstStyle/>
          <a:p>
            <a:fld id="{EE0FFEF1-E09C-425A-B53A-648F8300D01F}" type="slidenum">
              <a:rPr lang="en-IN" smtClean="0"/>
              <a:t>‹#›</a:t>
            </a:fld>
            <a:endParaRPr lang="en-IN"/>
          </a:p>
        </p:txBody>
      </p:sp>
    </p:spTree>
    <p:extLst>
      <p:ext uri="{BB962C8B-B14F-4D97-AF65-F5344CB8AC3E}">
        <p14:creationId xmlns:p14="http://schemas.microsoft.com/office/powerpoint/2010/main" val="1466766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119F5-695A-6D10-3D70-41B40E1E003C}"/>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6E2794C3-07C5-CE9E-B28E-030D3EB9BC7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AAE2B9CC-D583-D773-648A-042C2DBEA1CE}"/>
              </a:ext>
            </a:extLst>
          </p:cNvPr>
          <p:cNvSpPr>
            <a:spLocks noGrp="1"/>
          </p:cNvSpPr>
          <p:nvPr>
            <p:ph type="dt" sz="half" idx="10"/>
          </p:nvPr>
        </p:nvSpPr>
        <p:spPr/>
        <p:txBody>
          <a:bodyPr/>
          <a:lstStyle/>
          <a:p>
            <a:fld id="{21322613-0FFD-41C3-999C-F0AC190250D5}" type="datetimeFigureOut">
              <a:rPr lang="en-IN" smtClean="0"/>
              <a:t>02-08-2026</a:t>
            </a:fld>
            <a:endParaRPr lang="en-IN"/>
          </a:p>
        </p:txBody>
      </p:sp>
      <p:sp>
        <p:nvSpPr>
          <p:cNvPr id="5" name="Footer Placeholder 4">
            <a:extLst>
              <a:ext uri="{FF2B5EF4-FFF2-40B4-BE49-F238E27FC236}">
                <a16:creationId xmlns:a16="http://schemas.microsoft.com/office/drawing/2014/main" id="{DB21A654-7BAB-5ACE-F0C7-CA9DBF5A0C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94179A-6C1F-D77A-3CDB-08681B9298C3}"/>
              </a:ext>
            </a:extLst>
          </p:cNvPr>
          <p:cNvSpPr>
            <a:spLocks noGrp="1"/>
          </p:cNvSpPr>
          <p:nvPr>
            <p:ph type="sldNum" sz="quarter" idx="12"/>
          </p:nvPr>
        </p:nvSpPr>
        <p:spPr/>
        <p:txBody>
          <a:bodyPr/>
          <a:lstStyle/>
          <a:p>
            <a:fld id="{EE0FFEF1-E09C-425A-B53A-648F8300D01F}" type="slidenum">
              <a:rPr lang="en-IN" smtClean="0"/>
              <a:t>‹#›</a:t>
            </a:fld>
            <a:endParaRPr lang="en-IN"/>
          </a:p>
        </p:txBody>
      </p:sp>
    </p:spTree>
    <p:extLst>
      <p:ext uri="{BB962C8B-B14F-4D97-AF65-F5344CB8AC3E}">
        <p14:creationId xmlns:p14="http://schemas.microsoft.com/office/powerpoint/2010/main" val="8227171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0C8133-27A3-9E11-FF55-74F813792A8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64837280-578B-CA1F-3CF1-4FF98ED02EC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C17EFEFD-E78A-D1C8-9C1A-2A6B90E2F49B}"/>
              </a:ext>
            </a:extLst>
          </p:cNvPr>
          <p:cNvSpPr>
            <a:spLocks noGrp="1"/>
          </p:cNvSpPr>
          <p:nvPr>
            <p:ph type="dt" sz="half" idx="10"/>
          </p:nvPr>
        </p:nvSpPr>
        <p:spPr/>
        <p:txBody>
          <a:bodyPr/>
          <a:lstStyle/>
          <a:p>
            <a:fld id="{21322613-0FFD-41C3-999C-F0AC190250D5}" type="datetimeFigureOut">
              <a:rPr lang="en-IN" smtClean="0"/>
              <a:t>02-08-2026</a:t>
            </a:fld>
            <a:endParaRPr lang="en-IN"/>
          </a:p>
        </p:txBody>
      </p:sp>
      <p:sp>
        <p:nvSpPr>
          <p:cNvPr id="5" name="Footer Placeholder 4">
            <a:extLst>
              <a:ext uri="{FF2B5EF4-FFF2-40B4-BE49-F238E27FC236}">
                <a16:creationId xmlns:a16="http://schemas.microsoft.com/office/drawing/2014/main" id="{2C2DEF9F-CD19-CEF7-16DA-9EC21070B8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4B4787-9D58-7E1E-2860-52E8E297D0AA}"/>
              </a:ext>
            </a:extLst>
          </p:cNvPr>
          <p:cNvSpPr>
            <a:spLocks noGrp="1"/>
          </p:cNvSpPr>
          <p:nvPr>
            <p:ph type="sldNum" sz="quarter" idx="12"/>
          </p:nvPr>
        </p:nvSpPr>
        <p:spPr/>
        <p:txBody>
          <a:bodyPr/>
          <a:lstStyle/>
          <a:p>
            <a:fld id="{EE0FFEF1-E09C-425A-B53A-648F8300D01F}" type="slidenum">
              <a:rPr lang="en-IN" smtClean="0"/>
              <a:t>‹#›</a:t>
            </a:fld>
            <a:endParaRPr lang="en-IN"/>
          </a:p>
        </p:txBody>
      </p:sp>
    </p:spTree>
    <p:extLst>
      <p:ext uri="{BB962C8B-B14F-4D97-AF65-F5344CB8AC3E}">
        <p14:creationId xmlns:p14="http://schemas.microsoft.com/office/powerpoint/2010/main" val="3404779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6B55D2-56D8-1985-4F41-CD740263C4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28ACBA4E-2F76-6267-94EA-534E862429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6B38D642-3EA8-3A10-1A34-2297E7CE7C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322613-0FFD-41C3-999C-F0AC190250D5}" type="datetimeFigureOut">
              <a:rPr lang="en-IN" smtClean="0"/>
              <a:t>02-08-2026</a:t>
            </a:fld>
            <a:endParaRPr lang="en-IN"/>
          </a:p>
        </p:txBody>
      </p:sp>
      <p:sp>
        <p:nvSpPr>
          <p:cNvPr id="5" name="Footer Placeholder 4">
            <a:extLst>
              <a:ext uri="{FF2B5EF4-FFF2-40B4-BE49-F238E27FC236}">
                <a16:creationId xmlns:a16="http://schemas.microsoft.com/office/drawing/2014/main" id="{404B83D2-58A2-D362-0AA2-664C8E4B1E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14905DA-77F3-05D6-8AAC-494823A5CE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0FFEF1-E09C-425A-B53A-648F8300D01F}" type="slidenum">
              <a:rPr lang="en-IN" smtClean="0"/>
              <a:t>‹#›</a:t>
            </a:fld>
            <a:endParaRPr lang="en-IN"/>
          </a:p>
        </p:txBody>
      </p:sp>
    </p:spTree>
    <p:extLst>
      <p:ext uri="{BB962C8B-B14F-4D97-AF65-F5344CB8AC3E}">
        <p14:creationId xmlns:p14="http://schemas.microsoft.com/office/powerpoint/2010/main" val="39063041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java.com/en/download/manual.jsp" TargetMode="External"/><Relationship Id="rId2" Type="http://schemas.openxmlformats.org/officeDocument/2006/relationships/hyperlink" Target="https://sourceforge.net/projects/edsim51/"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keil.com/support/man/docs/is51/is51_opcodes.asp?bhcp=1"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5D711-0FDE-0C24-C14D-8BF04018F691}"/>
              </a:ext>
            </a:extLst>
          </p:cNvPr>
          <p:cNvSpPr>
            <a:spLocks noGrp="1"/>
          </p:cNvSpPr>
          <p:nvPr>
            <p:ph type="ctrTitle"/>
          </p:nvPr>
        </p:nvSpPr>
        <p:spPr/>
        <p:txBody>
          <a:bodyPr/>
          <a:lstStyle/>
          <a:p>
            <a:r>
              <a:rPr lang="en-IN" dirty="0"/>
              <a:t>IoT Prototyping Laboratory</a:t>
            </a:r>
          </a:p>
        </p:txBody>
      </p:sp>
      <p:sp>
        <p:nvSpPr>
          <p:cNvPr id="3" name="Subtitle 2">
            <a:extLst>
              <a:ext uri="{FF2B5EF4-FFF2-40B4-BE49-F238E27FC236}">
                <a16:creationId xmlns:a16="http://schemas.microsoft.com/office/drawing/2014/main" id="{2B9EC4B9-2427-5D2D-7149-701CB551EAD5}"/>
              </a:ext>
            </a:extLst>
          </p:cNvPr>
          <p:cNvSpPr>
            <a:spLocks noGrp="1"/>
          </p:cNvSpPr>
          <p:nvPr>
            <p:ph type="subTitle" idx="1"/>
          </p:nvPr>
        </p:nvSpPr>
        <p:spPr/>
        <p:txBody>
          <a:bodyPr/>
          <a:lstStyle/>
          <a:p>
            <a:r>
              <a:rPr lang="en-US" dirty="0"/>
              <a:t>Vipul Singh Negi</a:t>
            </a:r>
            <a:endParaRPr lang="en-IN" dirty="0"/>
          </a:p>
        </p:txBody>
      </p:sp>
    </p:spTree>
    <p:extLst>
      <p:ext uri="{BB962C8B-B14F-4D97-AF65-F5344CB8AC3E}">
        <p14:creationId xmlns:p14="http://schemas.microsoft.com/office/powerpoint/2010/main" val="1746555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A6232-C1BA-5034-5782-A2A3CE169AB8}"/>
              </a:ext>
            </a:extLst>
          </p:cNvPr>
          <p:cNvSpPr>
            <a:spLocks noGrp="1"/>
          </p:cNvSpPr>
          <p:nvPr>
            <p:ph type="title"/>
          </p:nvPr>
        </p:nvSpPr>
        <p:spPr/>
        <p:txBody>
          <a:bodyPr/>
          <a:lstStyle/>
          <a:p>
            <a:r>
              <a:rPr lang="en-US" dirty="0"/>
              <a:t>Team Code: 3mlkt3i</a:t>
            </a:r>
            <a:endParaRPr lang="en-IN" dirty="0"/>
          </a:p>
        </p:txBody>
      </p:sp>
      <p:sp>
        <p:nvSpPr>
          <p:cNvPr id="3" name="Content Placeholder 2">
            <a:extLst>
              <a:ext uri="{FF2B5EF4-FFF2-40B4-BE49-F238E27FC236}">
                <a16:creationId xmlns:a16="http://schemas.microsoft.com/office/drawing/2014/main" id="{B39AFEDE-1797-C19D-FBD5-5264E26A8553}"/>
              </a:ext>
            </a:extLst>
          </p:cNvPr>
          <p:cNvSpPr>
            <a:spLocks noGrp="1"/>
          </p:cNvSpPr>
          <p:nvPr>
            <p:ph idx="1"/>
          </p:nvPr>
        </p:nvSpPr>
        <p:spPr/>
        <p:txBody>
          <a:bodyPr/>
          <a:lstStyle/>
          <a:p>
            <a:r>
              <a:rPr lang="en-US" dirty="0"/>
              <a:t>Please join the above MS Team</a:t>
            </a:r>
            <a:endParaRPr lang="en-IN" dirty="0"/>
          </a:p>
        </p:txBody>
      </p:sp>
    </p:spTree>
    <p:extLst>
      <p:ext uri="{BB962C8B-B14F-4D97-AF65-F5344CB8AC3E}">
        <p14:creationId xmlns:p14="http://schemas.microsoft.com/office/powerpoint/2010/main" val="651225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B467-5099-4EED-8410-43A5D1F84389}"/>
              </a:ext>
            </a:extLst>
          </p:cNvPr>
          <p:cNvSpPr>
            <a:spLocks noGrp="1"/>
          </p:cNvSpPr>
          <p:nvPr>
            <p:ph type="title"/>
          </p:nvPr>
        </p:nvSpPr>
        <p:spPr/>
        <p:txBody>
          <a:bodyPr/>
          <a:lstStyle/>
          <a:p>
            <a:r>
              <a:rPr lang="en-US" dirty="0"/>
              <a:t>Microcontrollers</a:t>
            </a:r>
            <a:br>
              <a:rPr lang="en-US" dirty="0"/>
            </a:br>
            <a:endParaRPr lang="en-IN" dirty="0"/>
          </a:p>
        </p:txBody>
      </p:sp>
      <p:sp>
        <p:nvSpPr>
          <p:cNvPr id="7" name="Rectangle 3">
            <a:extLst>
              <a:ext uri="{FF2B5EF4-FFF2-40B4-BE49-F238E27FC236}">
                <a16:creationId xmlns:a16="http://schemas.microsoft.com/office/drawing/2014/main" id="{72B31213-FD28-1A87-B79A-3CFA9F9FEC15}"/>
              </a:ext>
            </a:extLst>
          </p:cNvPr>
          <p:cNvSpPr>
            <a:spLocks noChangeArrowheads="1"/>
          </p:cNvSpPr>
          <p:nvPr/>
        </p:nvSpPr>
        <p:spPr bwMode="auto">
          <a:xfrm>
            <a:off x="6898718" y="2514600"/>
            <a:ext cx="1143000" cy="914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8" name="Text Box 4">
            <a:extLst>
              <a:ext uri="{FF2B5EF4-FFF2-40B4-BE49-F238E27FC236}">
                <a16:creationId xmlns:a16="http://schemas.microsoft.com/office/drawing/2014/main" id="{B4962698-BAB2-9DDC-A526-8AD579F3121E}"/>
              </a:ext>
            </a:extLst>
          </p:cNvPr>
          <p:cNvSpPr txBox="1">
            <a:spLocks noChangeArrowheads="1"/>
          </p:cNvSpPr>
          <p:nvPr/>
        </p:nvSpPr>
        <p:spPr bwMode="auto">
          <a:xfrm>
            <a:off x="7051118" y="2743200"/>
            <a:ext cx="6719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t>CPU</a:t>
            </a:r>
          </a:p>
        </p:txBody>
      </p:sp>
      <p:sp>
        <p:nvSpPr>
          <p:cNvPr id="9" name="Text Box 5">
            <a:extLst>
              <a:ext uri="{FF2B5EF4-FFF2-40B4-BE49-F238E27FC236}">
                <a16:creationId xmlns:a16="http://schemas.microsoft.com/office/drawing/2014/main" id="{169ECB2D-AD85-59A4-BF11-7779F8FD0FE2}"/>
              </a:ext>
            </a:extLst>
          </p:cNvPr>
          <p:cNvSpPr txBox="1">
            <a:spLocks noChangeArrowheads="1"/>
          </p:cNvSpPr>
          <p:nvPr/>
        </p:nvSpPr>
        <p:spPr bwMode="auto">
          <a:xfrm>
            <a:off x="8408431" y="2521655"/>
            <a:ext cx="1677987" cy="70788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t>ROM     RAM</a:t>
            </a:r>
          </a:p>
        </p:txBody>
      </p:sp>
      <p:sp>
        <p:nvSpPr>
          <p:cNvPr id="10" name="Text Box 6">
            <a:extLst>
              <a:ext uri="{FF2B5EF4-FFF2-40B4-BE49-F238E27FC236}">
                <a16:creationId xmlns:a16="http://schemas.microsoft.com/office/drawing/2014/main" id="{5B6B0854-A7E6-A58B-7001-011EAEA853A9}"/>
              </a:ext>
            </a:extLst>
          </p:cNvPr>
          <p:cNvSpPr txBox="1">
            <a:spLocks noChangeArrowheads="1"/>
          </p:cNvSpPr>
          <p:nvPr/>
        </p:nvSpPr>
        <p:spPr bwMode="auto">
          <a:xfrm>
            <a:off x="9018031" y="3516313"/>
            <a:ext cx="492443"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I/O</a:t>
            </a:r>
          </a:p>
        </p:txBody>
      </p:sp>
      <p:sp>
        <p:nvSpPr>
          <p:cNvPr id="11" name="Rectangle 7">
            <a:extLst>
              <a:ext uri="{FF2B5EF4-FFF2-40B4-BE49-F238E27FC236}">
                <a16:creationId xmlns:a16="http://schemas.microsoft.com/office/drawing/2014/main" id="{D1A819D1-10CB-19B7-3928-6849F54DF09D}"/>
              </a:ext>
            </a:extLst>
          </p:cNvPr>
          <p:cNvSpPr>
            <a:spLocks noChangeArrowheads="1"/>
          </p:cNvSpPr>
          <p:nvPr/>
        </p:nvSpPr>
        <p:spPr bwMode="auto">
          <a:xfrm>
            <a:off x="6365318" y="1905000"/>
            <a:ext cx="4038600" cy="3733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2" name="Line 8">
            <a:extLst>
              <a:ext uri="{FF2B5EF4-FFF2-40B4-BE49-F238E27FC236}">
                <a16:creationId xmlns:a16="http://schemas.microsoft.com/office/drawing/2014/main" id="{C532FF84-78F2-1D21-1095-0E315D78C19F}"/>
              </a:ext>
            </a:extLst>
          </p:cNvPr>
          <p:cNvSpPr>
            <a:spLocks noChangeShapeType="1"/>
          </p:cNvSpPr>
          <p:nvPr/>
        </p:nvSpPr>
        <p:spPr bwMode="auto">
          <a:xfrm flipV="1">
            <a:off x="4917518" y="4724400"/>
            <a:ext cx="1447800" cy="381000"/>
          </a:xfrm>
          <a:prstGeom prst="line">
            <a:avLst/>
          </a:prstGeom>
          <a:noFill/>
          <a:ln w="57150">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3" name="Text Box 9">
            <a:extLst>
              <a:ext uri="{FF2B5EF4-FFF2-40B4-BE49-F238E27FC236}">
                <a16:creationId xmlns:a16="http://schemas.microsoft.com/office/drawing/2014/main" id="{34A3BE42-6299-5E8A-A700-CF450D7562BD}"/>
              </a:ext>
            </a:extLst>
          </p:cNvPr>
          <p:cNvSpPr txBox="1">
            <a:spLocks noChangeArrowheads="1"/>
          </p:cNvSpPr>
          <p:nvPr/>
        </p:nvSpPr>
        <p:spPr bwMode="auto">
          <a:xfrm>
            <a:off x="3393518" y="5029200"/>
            <a:ext cx="24542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t>A single chip</a:t>
            </a:r>
          </a:p>
        </p:txBody>
      </p:sp>
      <p:sp>
        <p:nvSpPr>
          <p:cNvPr id="14" name="Text Box 10">
            <a:extLst>
              <a:ext uri="{FF2B5EF4-FFF2-40B4-BE49-F238E27FC236}">
                <a16:creationId xmlns:a16="http://schemas.microsoft.com/office/drawing/2014/main" id="{A1AC3689-A4B0-38EC-86D3-73090E79FC8D}"/>
              </a:ext>
            </a:extLst>
          </p:cNvPr>
          <p:cNvSpPr txBox="1">
            <a:spLocks noChangeArrowheads="1"/>
          </p:cNvSpPr>
          <p:nvPr/>
        </p:nvSpPr>
        <p:spPr bwMode="auto">
          <a:xfrm>
            <a:off x="6670118" y="4191000"/>
            <a:ext cx="2779415" cy="92333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t>Subsystems:</a:t>
            </a:r>
          </a:p>
          <a:p>
            <a:pPr eaLnBrk="1" hangingPunct="1"/>
            <a:r>
              <a:rPr lang="en-US" altLang="en-US" dirty="0"/>
              <a:t>Timers, Counters, Analog</a:t>
            </a:r>
          </a:p>
          <a:p>
            <a:pPr eaLnBrk="1" hangingPunct="1"/>
            <a:r>
              <a:rPr lang="en-US" altLang="en-US" dirty="0"/>
              <a:t>Interfaces, I/O interfaces</a:t>
            </a:r>
          </a:p>
        </p:txBody>
      </p:sp>
      <p:sp>
        <p:nvSpPr>
          <p:cNvPr id="15" name="Text Box 11">
            <a:extLst>
              <a:ext uri="{FF2B5EF4-FFF2-40B4-BE49-F238E27FC236}">
                <a16:creationId xmlns:a16="http://schemas.microsoft.com/office/drawing/2014/main" id="{82479A53-4B37-B422-99C4-700D3437D431}"/>
              </a:ext>
            </a:extLst>
          </p:cNvPr>
          <p:cNvSpPr txBox="1">
            <a:spLocks noChangeArrowheads="1"/>
          </p:cNvSpPr>
          <p:nvPr/>
        </p:nvSpPr>
        <p:spPr bwMode="auto">
          <a:xfrm>
            <a:off x="8562418" y="1990547"/>
            <a:ext cx="101822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Memory</a:t>
            </a:r>
          </a:p>
        </p:txBody>
      </p:sp>
      <p:sp>
        <p:nvSpPr>
          <p:cNvPr id="16" name="Line 12">
            <a:extLst>
              <a:ext uri="{FF2B5EF4-FFF2-40B4-BE49-F238E27FC236}">
                <a16:creationId xmlns:a16="http://schemas.microsoft.com/office/drawing/2014/main" id="{66FBB5C9-BC88-2BB5-8ABC-2714ECE68A9F}"/>
              </a:ext>
            </a:extLst>
          </p:cNvPr>
          <p:cNvSpPr>
            <a:spLocks noChangeShapeType="1"/>
          </p:cNvSpPr>
          <p:nvPr/>
        </p:nvSpPr>
        <p:spPr bwMode="auto">
          <a:xfrm>
            <a:off x="9249806" y="2627313"/>
            <a:ext cx="0" cy="40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Tree>
    <p:extLst>
      <p:ext uri="{BB962C8B-B14F-4D97-AF65-F5344CB8AC3E}">
        <p14:creationId xmlns:p14="http://schemas.microsoft.com/office/powerpoint/2010/main" val="4273873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5F668-D870-2E44-6D29-4A3756D7A479}"/>
              </a:ext>
            </a:extLst>
          </p:cNvPr>
          <p:cNvSpPr>
            <a:spLocks noGrp="1"/>
          </p:cNvSpPr>
          <p:nvPr>
            <p:ph type="title"/>
          </p:nvPr>
        </p:nvSpPr>
        <p:spPr/>
        <p:txBody>
          <a:bodyPr/>
          <a:lstStyle/>
          <a:p>
            <a:r>
              <a:rPr lang="en-US" dirty="0"/>
              <a:t>Pin Diagram</a:t>
            </a:r>
            <a:endParaRPr lang="en-IN" dirty="0"/>
          </a:p>
        </p:txBody>
      </p:sp>
      <p:pic>
        <p:nvPicPr>
          <p:cNvPr id="4" name="Content Placeholder 3" descr="Microcontrollers - 8051 Pin Description">
            <a:extLst>
              <a:ext uri="{FF2B5EF4-FFF2-40B4-BE49-F238E27FC236}">
                <a16:creationId xmlns:a16="http://schemas.microsoft.com/office/drawing/2014/main" id="{A9B069F4-9460-35A4-B1DE-52D299A5EF10}"/>
              </a:ext>
            </a:extLst>
          </p:cNvPr>
          <p:cNvPicPr>
            <a:picLocks noGrp="1" noChangeAspect="1"/>
          </p:cNvPicPr>
          <p:nvPr>
            <p:ph idx="1"/>
          </p:nvPr>
        </p:nvPicPr>
        <p:blipFill>
          <a:blip r:embed="rId2"/>
          <a:stretch>
            <a:fillRect/>
          </a:stretch>
        </p:blipFill>
        <p:spPr>
          <a:xfrm>
            <a:off x="5744666" y="62353"/>
            <a:ext cx="5521301" cy="6733294"/>
          </a:xfrm>
          <a:prstGeom prst="rect">
            <a:avLst/>
          </a:prstGeom>
        </p:spPr>
      </p:pic>
    </p:spTree>
    <p:extLst>
      <p:ext uri="{BB962C8B-B14F-4D97-AF65-F5344CB8AC3E}">
        <p14:creationId xmlns:p14="http://schemas.microsoft.com/office/powerpoint/2010/main" val="2023301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1A0CE-BF69-164D-760A-1E69318F1D56}"/>
              </a:ext>
            </a:extLst>
          </p:cNvPr>
          <p:cNvSpPr>
            <a:spLocks noGrp="1"/>
          </p:cNvSpPr>
          <p:nvPr>
            <p:ph type="title"/>
          </p:nvPr>
        </p:nvSpPr>
        <p:spPr/>
        <p:txBody>
          <a:bodyPr/>
          <a:lstStyle/>
          <a:p>
            <a:r>
              <a:rPr lang="en-US" dirty="0"/>
              <a:t>Architecture</a:t>
            </a:r>
            <a:endParaRPr lang="en-IN" dirty="0"/>
          </a:p>
        </p:txBody>
      </p:sp>
      <p:pic>
        <p:nvPicPr>
          <p:cNvPr id="4" name="Picture 3" descr="Architecture Block diagram and components Of 8051 Microcontroller | 8051  Microcontroller">
            <a:extLst>
              <a:ext uri="{FF2B5EF4-FFF2-40B4-BE49-F238E27FC236}">
                <a16:creationId xmlns:a16="http://schemas.microsoft.com/office/drawing/2014/main" id="{D190C522-9E92-C2F0-D04F-B29236C0EF0E}"/>
              </a:ext>
            </a:extLst>
          </p:cNvPr>
          <p:cNvPicPr>
            <a:picLocks noChangeAspect="1"/>
          </p:cNvPicPr>
          <p:nvPr/>
        </p:nvPicPr>
        <p:blipFill>
          <a:blip r:embed="rId2"/>
          <a:stretch>
            <a:fillRect/>
          </a:stretch>
        </p:blipFill>
        <p:spPr>
          <a:xfrm>
            <a:off x="5325856" y="0"/>
            <a:ext cx="6372879" cy="6793424"/>
          </a:xfrm>
          <a:prstGeom prst="rect">
            <a:avLst/>
          </a:prstGeom>
        </p:spPr>
      </p:pic>
    </p:spTree>
    <p:extLst>
      <p:ext uri="{BB962C8B-B14F-4D97-AF65-F5344CB8AC3E}">
        <p14:creationId xmlns:p14="http://schemas.microsoft.com/office/powerpoint/2010/main" val="204613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4E30A-0A05-B51B-C97A-9B42CC8F579C}"/>
              </a:ext>
            </a:extLst>
          </p:cNvPr>
          <p:cNvSpPr>
            <a:spLocks noGrp="1"/>
          </p:cNvSpPr>
          <p:nvPr>
            <p:ph type="title"/>
          </p:nvPr>
        </p:nvSpPr>
        <p:spPr/>
        <p:txBody>
          <a:bodyPr/>
          <a:lstStyle/>
          <a:p>
            <a:r>
              <a:rPr lang="en-US" dirty="0"/>
              <a:t>Ports</a:t>
            </a:r>
            <a:endParaRPr lang="en-IN" dirty="0"/>
          </a:p>
        </p:txBody>
      </p:sp>
      <p:sp>
        <p:nvSpPr>
          <p:cNvPr id="3" name="Content Placeholder 2">
            <a:extLst>
              <a:ext uri="{FF2B5EF4-FFF2-40B4-BE49-F238E27FC236}">
                <a16:creationId xmlns:a16="http://schemas.microsoft.com/office/drawing/2014/main" id="{7EBF059A-91FA-8B90-9F48-72A47B5C781E}"/>
              </a:ext>
            </a:extLst>
          </p:cNvPr>
          <p:cNvSpPr>
            <a:spLocks noGrp="1"/>
          </p:cNvSpPr>
          <p:nvPr>
            <p:ph idx="1"/>
          </p:nvPr>
        </p:nvSpPr>
        <p:spPr/>
        <p:txBody>
          <a:bodyPr>
            <a:normAutofit lnSpcReduction="10000"/>
          </a:bodyPr>
          <a:lstStyle/>
          <a:p>
            <a:pPr>
              <a:spcBef>
                <a:spcPts val="600"/>
              </a:spcBef>
              <a:buClr>
                <a:schemeClr val="accent1"/>
              </a:buClr>
              <a:buSzPct val="70000"/>
            </a:pPr>
            <a:r>
              <a:rPr lang="en-US" altLang="zh-CN" b="1" dirty="0">
                <a:latin typeface="Calibri" panose="020F0502020204030204" pitchFamily="34" charset="0"/>
              </a:rPr>
              <a:t>PORT P1 (Pins 1 to 8)</a:t>
            </a:r>
            <a:r>
              <a:rPr lang="en-US" altLang="zh-CN" dirty="0">
                <a:latin typeface="Calibri" panose="020F0502020204030204" pitchFamily="34" charset="0"/>
              </a:rPr>
              <a:t>: The port P1 is a port dedicated for general I/O purpose. The other ports P0, P2 and P3 have dual roles in addition to their basic I/O function. </a:t>
            </a:r>
            <a:endParaRPr lang="en-US" altLang="zh-CN" b="1" dirty="0">
              <a:latin typeface="Calibri" panose="020F0502020204030204" pitchFamily="34" charset="0"/>
            </a:endParaRPr>
          </a:p>
          <a:p>
            <a:pPr>
              <a:spcBef>
                <a:spcPts val="600"/>
              </a:spcBef>
              <a:buClr>
                <a:schemeClr val="accent1"/>
              </a:buClr>
              <a:buSzPct val="70000"/>
            </a:pPr>
            <a:r>
              <a:rPr lang="en-US" altLang="zh-CN" b="1" dirty="0">
                <a:latin typeface="Calibri" panose="020F0502020204030204" pitchFamily="34" charset="0"/>
              </a:rPr>
              <a:t>PORT P0 (pins 32 to 39):</a:t>
            </a:r>
            <a:r>
              <a:rPr lang="en-US" altLang="zh-CN" dirty="0">
                <a:latin typeface="Calibri" panose="020F0502020204030204" pitchFamily="34" charset="0"/>
              </a:rPr>
              <a:t> When the external memory access is required then Port P0 is  multiplexed for address bus and data bus that can be used to access external memory in conjunction with port P2. P0 acts as A0-A7 in address bus and D0-D7 for port data. It can be used for general purpose I/O if no external memory presents. </a:t>
            </a:r>
          </a:p>
          <a:p>
            <a:pPr>
              <a:spcBef>
                <a:spcPts val="600"/>
              </a:spcBef>
              <a:buClr>
                <a:schemeClr val="accent1"/>
              </a:buClr>
              <a:buSzPct val="70000"/>
            </a:pPr>
            <a:r>
              <a:rPr lang="en-US" altLang="zh-CN" b="1" dirty="0">
                <a:latin typeface="Calibri" panose="020F0502020204030204" pitchFamily="34" charset="0"/>
              </a:rPr>
              <a:t>PORT P2 (pins 21 to 28)</a:t>
            </a:r>
            <a:r>
              <a:rPr lang="en-US" altLang="zh-CN" dirty="0">
                <a:latin typeface="Calibri" panose="020F0502020204030204" pitchFamily="34" charset="0"/>
              </a:rPr>
              <a:t>: Similar to P0, the port P2 can also play a role (A8-A15) in the address bus in conjunction with PORT P0 to access external memory.</a:t>
            </a:r>
            <a:endParaRPr lang="en-US" altLang="zh-CN" b="1" dirty="0">
              <a:latin typeface="Calibri" panose="020F0502020204030204" pitchFamily="34" charset="0"/>
            </a:endParaRPr>
          </a:p>
        </p:txBody>
      </p:sp>
    </p:spTree>
    <p:extLst>
      <p:ext uri="{BB962C8B-B14F-4D97-AF65-F5344CB8AC3E}">
        <p14:creationId xmlns:p14="http://schemas.microsoft.com/office/powerpoint/2010/main" val="2203160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CC1D2-C1A0-6E88-235D-02AF55D783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891B74-82EB-2245-1962-C3E202B2E5DF}"/>
              </a:ext>
            </a:extLst>
          </p:cNvPr>
          <p:cNvSpPr>
            <a:spLocks noGrp="1"/>
          </p:cNvSpPr>
          <p:nvPr>
            <p:ph type="title"/>
          </p:nvPr>
        </p:nvSpPr>
        <p:spPr/>
        <p:txBody>
          <a:bodyPr/>
          <a:lstStyle/>
          <a:p>
            <a:r>
              <a:rPr lang="en-US" dirty="0"/>
              <a:t>Contd.</a:t>
            </a:r>
            <a:endParaRPr lang="en-IN" dirty="0"/>
          </a:p>
        </p:txBody>
      </p:sp>
      <p:sp>
        <p:nvSpPr>
          <p:cNvPr id="3" name="Content Placeholder 2">
            <a:extLst>
              <a:ext uri="{FF2B5EF4-FFF2-40B4-BE49-F238E27FC236}">
                <a16:creationId xmlns:a16="http://schemas.microsoft.com/office/drawing/2014/main" id="{476D4AB5-8F57-B008-81D1-D61F16A9EBDB}"/>
              </a:ext>
            </a:extLst>
          </p:cNvPr>
          <p:cNvSpPr>
            <a:spLocks noGrp="1"/>
          </p:cNvSpPr>
          <p:nvPr>
            <p:ph idx="1"/>
          </p:nvPr>
        </p:nvSpPr>
        <p:spPr/>
        <p:txBody>
          <a:bodyPr>
            <a:normAutofit lnSpcReduction="10000"/>
          </a:bodyPr>
          <a:lstStyle/>
          <a:p>
            <a:pPr>
              <a:lnSpc>
                <a:spcPct val="80000"/>
              </a:lnSpc>
              <a:spcBef>
                <a:spcPts val="600"/>
              </a:spcBef>
              <a:buClr>
                <a:schemeClr val="accent1"/>
              </a:buClr>
              <a:buSzPct val="70000"/>
            </a:pPr>
            <a:r>
              <a:rPr lang="en-US" altLang="zh-CN" sz="2400" b="1" dirty="0">
                <a:latin typeface="Calibri" panose="020F0502020204030204" pitchFamily="34" charset="0"/>
              </a:rPr>
              <a:t>PORT P3 (Pins 10 to 17)</a:t>
            </a:r>
            <a:r>
              <a:rPr lang="en-US" altLang="zh-CN" sz="2400" dirty="0">
                <a:latin typeface="Calibri" panose="020F0502020204030204" pitchFamily="34" charset="0"/>
              </a:rPr>
              <a:t>:</a:t>
            </a:r>
            <a:r>
              <a:rPr lang="en-US" altLang="zh-CN" dirty="0">
                <a:latin typeface="Calibri" panose="020F0502020204030204" pitchFamily="34" charset="0"/>
              </a:rPr>
              <a:t> </a:t>
            </a:r>
          </a:p>
          <a:p>
            <a:pPr lvl="1">
              <a:lnSpc>
                <a:spcPct val="80000"/>
              </a:lnSpc>
              <a:spcBef>
                <a:spcPts val="600"/>
              </a:spcBef>
              <a:buClr>
                <a:schemeClr val="accent1"/>
              </a:buClr>
              <a:buSzPct val="70000"/>
            </a:pPr>
            <a:r>
              <a:rPr lang="en-US" altLang="zh-CN" dirty="0">
                <a:latin typeface="Calibri" panose="020F0502020204030204" pitchFamily="34" charset="0"/>
              </a:rPr>
              <a:t>In addition to acting as a normal I/O port, </a:t>
            </a:r>
          </a:p>
          <a:p>
            <a:pPr lvl="2">
              <a:lnSpc>
                <a:spcPct val="80000"/>
              </a:lnSpc>
              <a:spcBef>
                <a:spcPts val="600"/>
              </a:spcBef>
              <a:buClr>
                <a:schemeClr val="accent1"/>
              </a:buClr>
              <a:buSzPct val="70000"/>
            </a:pPr>
            <a:r>
              <a:rPr lang="en-US" altLang="zh-CN" sz="2800" dirty="0">
                <a:latin typeface="Calibri" panose="020F0502020204030204" pitchFamily="34" charset="0"/>
              </a:rPr>
              <a:t>P3.0 can be used for serial receive input pin (RXD) </a:t>
            </a:r>
          </a:p>
          <a:p>
            <a:pPr lvl="2">
              <a:lnSpc>
                <a:spcPct val="80000"/>
              </a:lnSpc>
              <a:spcBef>
                <a:spcPts val="600"/>
              </a:spcBef>
              <a:buClr>
                <a:schemeClr val="accent1"/>
              </a:buClr>
              <a:buSzPct val="70000"/>
            </a:pPr>
            <a:r>
              <a:rPr lang="en-US" altLang="zh-CN" sz="2800" dirty="0">
                <a:latin typeface="Calibri" panose="020F0502020204030204" pitchFamily="34" charset="0"/>
              </a:rPr>
              <a:t>P3.1 can be used for serial transmit output pin (TXD) in a serial port, </a:t>
            </a:r>
          </a:p>
          <a:p>
            <a:pPr lvl="2">
              <a:lnSpc>
                <a:spcPct val="80000"/>
              </a:lnSpc>
              <a:spcBef>
                <a:spcPts val="600"/>
              </a:spcBef>
              <a:buClr>
                <a:schemeClr val="accent1"/>
              </a:buClr>
              <a:buSzPct val="70000"/>
            </a:pPr>
            <a:r>
              <a:rPr lang="en-US" altLang="zh-CN" sz="2800" dirty="0">
                <a:latin typeface="Calibri" panose="020F0502020204030204" pitchFamily="34" charset="0"/>
              </a:rPr>
              <a:t>P3.2 and P3.3 can be used as external interrupt pins (INT0’ and INT1’), </a:t>
            </a:r>
          </a:p>
          <a:p>
            <a:pPr lvl="2">
              <a:lnSpc>
                <a:spcPct val="80000"/>
              </a:lnSpc>
              <a:spcBef>
                <a:spcPts val="600"/>
              </a:spcBef>
              <a:buClr>
                <a:schemeClr val="accent1"/>
              </a:buClr>
              <a:buSzPct val="70000"/>
            </a:pPr>
            <a:r>
              <a:rPr lang="en-US" altLang="zh-CN" sz="2800" dirty="0">
                <a:latin typeface="Calibri" panose="020F0502020204030204" pitchFamily="34" charset="0"/>
              </a:rPr>
              <a:t>P3.4 and P3.5 are used for external counter input pins (T0 and T1), </a:t>
            </a:r>
          </a:p>
          <a:p>
            <a:pPr lvl="2">
              <a:lnSpc>
                <a:spcPct val="80000"/>
              </a:lnSpc>
              <a:spcBef>
                <a:spcPts val="600"/>
              </a:spcBef>
              <a:buClr>
                <a:schemeClr val="accent1"/>
              </a:buClr>
              <a:buSzPct val="70000"/>
            </a:pPr>
            <a:r>
              <a:rPr lang="en-US" altLang="zh-CN" sz="2800" dirty="0">
                <a:latin typeface="Calibri" panose="020F0502020204030204" pitchFamily="34" charset="0"/>
              </a:rPr>
              <a:t>P3.6 and P3.7 can be used as external data memory write and read control signal pins (WR’ and RD’) read and write pins for memory access. </a:t>
            </a:r>
          </a:p>
        </p:txBody>
      </p:sp>
    </p:spTree>
    <p:extLst>
      <p:ext uri="{BB962C8B-B14F-4D97-AF65-F5344CB8AC3E}">
        <p14:creationId xmlns:p14="http://schemas.microsoft.com/office/powerpoint/2010/main" val="2631925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B7D3B-0A6C-64B8-39EF-34F25700A17C}"/>
              </a:ext>
            </a:extLst>
          </p:cNvPr>
          <p:cNvSpPr>
            <a:spLocks noGrp="1"/>
          </p:cNvSpPr>
          <p:nvPr>
            <p:ph type="title"/>
          </p:nvPr>
        </p:nvSpPr>
        <p:spPr/>
        <p:txBody>
          <a:bodyPr/>
          <a:lstStyle/>
          <a:p>
            <a:r>
              <a:rPr lang="en-US" dirty="0"/>
              <a:t>Installation</a:t>
            </a:r>
            <a:endParaRPr lang="en-IN" dirty="0"/>
          </a:p>
        </p:txBody>
      </p:sp>
      <p:sp>
        <p:nvSpPr>
          <p:cNvPr id="3" name="Content Placeholder 2">
            <a:extLst>
              <a:ext uri="{FF2B5EF4-FFF2-40B4-BE49-F238E27FC236}">
                <a16:creationId xmlns:a16="http://schemas.microsoft.com/office/drawing/2014/main" id="{62F55F16-128D-C633-5AD5-00E555A0F60D}"/>
              </a:ext>
            </a:extLst>
          </p:cNvPr>
          <p:cNvSpPr>
            <a:spLocks noGrp="1"/>
          </p:cNvSpPr>
          <p:nvPr>
            <p:ph idx="1"/>
          </p:nvPr>
        </p:nvSpPr>
        <p:spPr/>
        <p:txBody>
          <a:bodyPr/>
          <a:lstStyle/>
          <a:p>
            <a:r>
              <a:rPr lang="en-US" dirty="0"/>
              <a:t>Navigate to </a:t>
            </a:r>
            <a:r>
              <a:rPr lang="en-US" dirty="0">
                <a:hlinkClick r:id="rId2"/>
              </a:rPr>
              <a:t>https://sourceforge.net/projects/edsim51/</a:t>
            </a:r>
            <a:endParaRPr lang="en-US" dirty="0"/>
          </a:p>
          <a:p>
            <a:r>
              <a:rPr lang="en-US" dirty="0"/>
              <a:t>Download the file.</a:t>
            </a:r>
          </a:p>
          <a:p>
            <a:r>
              <a:rPr lang="en-US" dirty="0"/>
              <a:t>Install Java (Download x64 for Windows and can choose for Mac).</a:t>
            </a:r>
          </a:p>
          <a:p>
            <a:r>
              <a:rPr lang="en-IN" dirty="0">
                <a:hlinkClick r:id="rId3"/>
              </a:rPr>
              <a:t>https://www.java.com/en/download/manual.jsp</a:t>
            </a:r>
            <a:endParaRPr lang="en-US" dirty="0"/>
          </a:p>
          <a:p>
            <a:r>
              <a:rPr lang="en-IN" dirty="0"/>
              <a:t>If you are on Linux (Ubuntu), use </a:t>
            </a:r>
          </a:p>
          <a:p>
            <a:pPr lvl="1"/>
            <a:r>
              <a:rPr lang="en-IN" dirty="0" err="1"/>
              <a:t>sudo</a:t>
            </a:r>
            <a:r>
              <a:rPr lang="en-IN" dirty="0"/>
              <a:t> apt install default-</a:t>
            </a:r>
            <a:r>
              <a:rPr lang="en-IN" dirty="0" err="1"/>
              <a:t>jdk</a:t>
            </a:r>
            <a:endParaRPr lang="en-IN" dirty="0"/>
          </a:p>
          <a:p>
            <a:pPr lvl="1"/>
            <a:r>
              <a:rPr lang="en-US" dirty="0"/>
              <a:t>Install Java.</a:t>
            </a:r>
          </a:p>
          <a:p>
            <a:r>
              <a:rPr lang="en-US" dirty="0"/>
              <a:t>Unzip the EdSim51 File and open the .jar file.</a:t>
            </a:r>
          </a:p>
          <a:p>
            <a:pPr lvl="1"/>
            <a:endParaRPr lang="en-IN" dirty="0"/>
          </a:p>
        </p:txBody>
      </p:sp>
    </p:spTree>
    <p:extLst>
      <p:ext uri="{BB962C8B-B14F-4D97-AF65-F5344CB8AC3E}">
        <p14:creationId xmlns:p14="http://schemas.microsoft.com/office/powerpoint/2010/main" val="3855333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03300-F368-36C3-D17C-2AE3ABE5D1D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FDC17C8-E634-3DFD-8987-047290EBCA55}"/>
              </a:ext>
            </a:extLst>
          </p:cNvPr>
          <p:cNvSpPr>
            <a:spLocks noGrp="1"/>
          </p:cNvSpPr>
          <p:nvPr>
            <p:ph idx="1"/>
          </p:nvPr>
        </p:nvSpPr>
        <p:spPr/>
        <p:txBody>
          <a:bodyPr/>
          <a:lstStyle/>
          <a:p>
            <a:endParaRPr lang="en-IN"/>
          </a:p>
        </p:txBody>
      </p:sp>
      <p:pic>
        <p:nvPicPr>
          <p:cNvPr id="4" name="Picture 3" descr="Download EdSim51 8051 Microcontroller Free Simulator - Xtronic">
            <a:extLst>
              <a:ext uri="{FF2B5EF4-FFF2-40B4-BE49-F238E27FC236}">
                <a16:creationId xmlns:a16="http://schemas.microsoft.com/office/drawing/2014/main" id="{15C45388-5504-BDE7-B2C1-6F8B43359DE7}"/>
              </a:ext>
            </a:extLst>
          </p:cNvPr>
          <p:cNvPicPr>
            <a:picLocks noChangeAspect="1"/>
          </p:cNvPicPr>
          <p:nvPr/>
        </p:nvPicPr>
        <p:blipFill>
          <a:blip r:embed="rId2"/>
          <a:stretch>
            <a:fillRect/>
          </a:stretch>
        </p:blipFill>
        <p:spPr>
          <a:xfrm>
            <a:off x="1482119" y="137389"/>
            <a:ext cx="9227762" cy="6583221"/>
          </a:xfrm>
          <a:prstGeom prst="rect">
            <a:avLst/>
          </a:prstGeom>
        </p:spPr>
      </p:pic>
    </p:spTree>
    <p:extLst>
      <p:ext uri="{BB962C8B-B14F-4D97-AF65-F5344CB8AC3E}">
        <p14:creationId xmlns:p14="http://schemas.microsoft.com/office/powerpoint/2010/main" val="3688234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FD237C-4AFE-94AB-6950-2E51AE5A393C}"/>
              </a:ext>
            </a:extLst>
          </p:cNvPr>
          <p:cNvSpPr>
            <a:spLocks noGrp="1"/>
          </p:cNvSpPr>
          <p:nvPr>
            <p:ph type="title"/>
          </p:nvPr>
        </p:nvSpPr>
        <p:spPr/>
        <p:txBody>
          <a:bodyPr/>
          <a:lstStyle/>
          <a:p>
            <a:r>
              <a:rPr lang="en-US" dirty="0"/>
              <a:t>First Code</a:t>
            </a:r>
            <a:endParaRPr lang="en-IN" dirty="0"/>
          </a:p>
        </p:txBody>
      </p:sp>
      <p:sp>
        <p:nvSpPr>
          <p:cNvPr id="3" name="Content Placeholder 2">
            <a:extLst>
              <a:ext uri="{FF2B5EF4-FFF2-40B4-BE49-F238E27FC236}">
                <a16:creationId xmlns:a16="http://schemas.microsoft.com/office/drawing/2014/main" id="{A40D1ACF-7758-BAA2-7A91-2A132934B17F}"/>
              </a:ext>
            </a:extLst>
          </p:cNvPr>
          <p:cNvSpPr>
            <a:spLocks noGrp="1"/>
          </p:cNvSpPr>
          <p:nvPr>
            <p:ph sz="half" idx="1"/>
          </p:nvPr>
        </p:nvSpPr>
        <p:spPr/>
        <p:txBody>
          <a:bodyPr/>
          <a:lstStyle/>
          <a:p>
            <a:pPr marL="514350" indent="-514350">
              <a:buFont typeface="+mj-lt"/>
              <a:buAutoNum type="arabicPeriod"/>
            </a:pPr>
            <a:r>
              <a:rPr lang="en-US" dirty="0"/>
              <a:t>		Org 00H </a:t>
            </a:r>
            <a:r>
              <a:rPr lang="en-US" dirty="0">
                <a:solidFill>
                  <a:schemeClr val="accent6"/>
                </a:solidFill>
              </a:rPr>
              <a:t>; Start of Program</a:t>
            </a:r>
          </a:p>
          <a:p>
            <a:pPr marL="514350" indent="-514350">
              <a:buFont typeface="+mj-lt"/>
              <a:buAutoNum type="arabicPeriod"/>
            </a:pPr>
            <a:r>
              <a:rPr lang="en-US" dirty="0"/>
              <a:t>Start:	Mov A, #0FH  </a:t>
            </a:r>
            <a:r>
              <a:rPr lang="en-US" dirty="0">
                <a:solidFill>
                  <a:schemeClr val="accent6"/>
                </a:solidFill>
              </a:rPr>
              <a:t>; This is comment. Move copies the value</a:t>
            </a:r>
            <a:endParaRPr lang="en-IN" dirty="0">
              <a:solidFill>
                <a:schemeClr val="accent6"/>
              </a:solidFill>
            </a:endParaRPr>
          </a:p>
          <a:p>
            <a:pPr marL="514350" indent="-514350">
              <a:buFont typeface="+mj-lt"/>
              <a:buAutoNum type="arabicPeriod"/>
            </a:pPr>
            <a:r>
              <a:rPr lang="en-IN" dirty="0">
                <a:solidFill>
                  <a:schemeClr val="accent6"/>
                </a:solidFill>
              </a:rPr>
              <a:t>                  </a:t>
            </a:r>
            <a:r>
              <a:rPr lang="en-IN" dirty="0"/>
              <a:t>Mov P1, A</a:t>
            </a:r>
          </a:p>
          <a:p>
            <a:pPr marL="514350" indent="-514350">
              <a:buFont typeface="+mj-lt"/>
              <a:buAutoNum type="arabicPeriod"/>
            </a:pPr>
            <a:r>
              <a:rPr lang="en-IN" dirty="0"/>
              <a:t>                  End</a:t>
            </a:r>
            <a:endParaRPr lang="en-US" dirty="0"/>
          </a:p>
        </p:txBody>
      </p:sp>
      <p:sp>
        <p:nvSpPr>
          <p:cNvPr id="5" name="Content Placeholder 4">
            <a:extLst>
              <a:ext uri="{FF2B5EF4-FFF2-40B4-BE49-F238E27FC236}">
                <a16:creationId xmlns:a16="http://schemas.microsoft.com/office/drawing/2014/main" id="{CB778875-08ED-F231-35EB-250C7673DE13}"/>
              </a:ext>
            </a:extLst>
          </p:cNvPr>
          <p:cNvSpPr>
            <a:spLocks noGrp="1"/>
          </p:cNvSpPr>
          <p:nvPr>
            <p:ph sz="half" idx="2"/>
          </p:nvPr>
        </p:nvSpPr>
        <p:spPr/>
        <p:txBody>
          <a:bodyPr/>
          <a:lstStyle/>
          <a:p>
            <a:pPr marL="0" indent="0">
              <a:buNone/>
            </a:pPr>
            <a:r>
              <a:rPr lang="en-US" b="1" dirty="0">
                <a:solidFill>
                  <a:schemeClr val="accent2"/>
                </a:solidFill>
              </a:rPr>
              <a:t>Org: </a:t>
            </a:r>
            <a:r>
              <a:rPr lang="en-US" dirty="0"/>
              <a:t>Is the Origin of the program. It tells us where in the memory the program starts.</a:t>
            </a:r>
          </a:p>
          <a:p>
            <a:pPr marL="0" indent="0">
              <a:buNone/>
            </a:pPr>
            <a:r>
              <a:rPr lang="en-US" b="1" dirty="0">
                <a:solidFill>
                  <a:schemeClr val="accent2"/>
                </a:solidFill>
              </a:rPr>
              <a:t>End: </a:t>
            </a:r>
            <a:r>
              <a:rPr lang="en-US" dirty="0"/>
              <a:t>Is used to inform that the program is ending.</a:t>
            </a:r>
            <a:endParaRPr lang="en-US" b="1" dirty="0">
              <a:solidFill>
                <a:schemeClr val="accent2"/>
              </a:solidFill>
            </a:endParaRP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964344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2557CE0-C0FF-E285-1658-A11D4FE54690}"/>
              </a:ext>
            </a:extLst>
          </p:cNvPr>
          <p:cNvSpPr/>
          <p:nvPr/>
        </p:nvSpPr>
        <p:spPr>
          <a:xfrm>
            <a:off x="4634821" y="4285814"/>
            <a:ext cx="3120129" cy="1193606"/>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 name="Title 4">
            <a:extLst>
              <a:ext uri="{FF2B5EF4-FFF2-40B4-BE49-F238E27FC236}">
                <a16:creationId xmlns:a16="http://schemas.microsoft.com/office/drawing/2014/main" id="{6F781059-9740-E11F-ECD5-2EFB217A3969}"/>
              </a:ext>
            </a:extLst>
          </p:cNvPr>
          <p:cNvSpPr>
            <a:spLocks noGrp="1"/>
          </p:cNvSpPr>
          <p:nvPr>
            <p:ph type="title"/>
          </p:nvPr>
        </p:nvSpPr>
        <p:spPr/>
        <p:txBody>
          <a:bodyPr/>
          <a:lstStyle/>
          <a:p>
            <a:r>
              <a:rPr lang="en-US" dirty="0"/>
              <a:t>Instructions for 8051</a:t>
            </a:r>
            <a:endParaRPr lang="en-IN" dirty="0"/>
          </a:p>
        </p:txBody>
      </p:sp>
      <p:sp>
        <p:nvSpPr>
          <p:cNvPr id="6" name="Content Placeholder 5">
            <a:extLst>
              <a:ext uri="{FF2B5EF4-FFF2-40B4-BE49-F238E27FC236}">
                <a16:creationId xmlns:a16="http://schemas.microsoft.com/office/drawing/2014/main" id="{42AE06B6-07F8-3155-90A1-FDFD0F9BBE45}"/>
              </a:ext>
            </a:extLst>
          </p:cNvPr>
          <p:cNvSpPr>
            <a:spLocks noGrp="1"/>
          </p:cNvSpPr>
          <p:nvPr>
            <p:ph idx="1"/>
          </p:nvPr>
        </p:nvSpPr>
        <p:spPr/>
        <p:txBody>
          <a:bodyPr/>
          <a:lstStyle/>
          <a:p>
            <a:pPr marL="0" indent="0" algn="ctr">
              <a:buNone/>
            </a:pPr>
            <a:r>
              <a:rPr lang="en-US" dirty="0"/>
              <a:t>[label:] </a:t>
            </a:r>
            <a:r>
              <a:rPr lang="en-US" dirty="0">
                <a:solidFill>
                  <a:srgbClr val="0070C0"/>
                </a:solidFill>
              </a:rPr>
              <a:t>mnemonic [operands]  </a:t>
            </a:r>
            <a:r>
              <a:rPr lang="en-US" dirty="0">
                <a:solidFill>
                  <a:schemeClr val="accent6"/>
                </a:solidFill>
              </a:rPr>
              <a:t>[; comments]</a:t>
            </a:r>
          </a:p>
          <a:p>
            <a:pPr marL="0" indent="0" algn="ctr">
              <a:buNone/>
            </a:pPr>
            <a:endParaRPr lang="en-US" dirty="0">
              <a:solidFill>
                <a:schemeClr val="accent6"/>
              </a:solidFill>
            </a:endParaRPr>
          </a:p>
          <a:p>
            <a:pPr marL="0" indent="0" algn="ctr">
              <a:buNone/>
            </a:pPr>
            <a:r>
              <a:rPr lang="en-US" dirty="0"/>
              <a:t>Example: Start: </a:t>
            </a:r>
            <a:r>
              <a:rPr lang="en-US" dirty="0">
                <a:solidFill>
                  <a:srgbClr val="0070C0"/>
                </a:solidFill>
              </a:rPr>
              <a:t>Mov A,#0FH </a:t>
            </a:r>
            <a:r>
              <a:rPr lang="en-US" dirty="0">
                <a:solidFill>
                  <a:schemeClr val="accent6"/>
                </a:solidFill>
              </a:rPr>
              <a:t>; This copy data into A</a:t>
            </a:r>
          </a:p>
          <a:p>
            <a:pPr marL="0" indent="0" algn="ctr">
              <a:buNone/>
            </a:pPr>
            <a:r>
              <a:rPr lang="en-US" dirty="0"/>
              <a:t>Label</a:t>
            </a:r>
            <a:r>
              <a:rPr lang="en-US" dirty="0">
                <a:solidFill>
                  <a:srgbClr val="0070C0"/>
                </a:solidFill>
              </a:rPr>
              <a:t> Instructions </a:t>
            </a:r>
            <a:r>
              <a:rPr lang="en-US" dirty="0">
                <a:solidFill>
                  <a:schemeClr val="accent6"/>
                </a:solidFill>
              </a:rPr>
              <a:t>Comments</a:t>
            </a:r>
          </a:p>
          <a:p>
            <a:pPr marL="0" indent="0" algn="ctr">
              <a:buNone/>
            </a:pPr>
            <a:endParaRPr lang="en-US" dirty="0">
              <a:solidFill>
                <a:schemeClr val="accent6"/>
              </a:solidFill>
            </a:endParaRPr>
          </a:p>
          <a:p>
            <a:pPr marL="0" indent="0" algn="ctr">
              <a:buNone/>
            </a:pPr>
            <a:r>
              <a:rPr lang="en-US" dirty="0">
                <a:solidFill>
                  <a:srgbClr val="0070C0"/>
                </a:solidFill>
              </a:rPr>
              <a:t>Opcode </a:t>
            </a:r>
            <a:r>
              <a:rPr lang="en-US" dirty="0">
                <a:solidFill>
                  <a:srgbClr val="FFC000"/>
                </a:solidFill>
              </a:rPr>
              <a:t>Operand</a:t>
            </a:r>
          </a:p>
          <a:p>
            <a:pPr marL="0" indent="0" algn="ctr">
              <a:buNone/>
            </a:pPr>
            <a:r>
              <a:rPr lang="en-US" dirty="0">
                <a:solidFill>
                  <a:srgbClr val="0070C0"/>
                </a:solidFill>
              </a:rPr>
              <a:t>Mov </a:t>
            </a:r>
            <a:r>
              <a:rPr lang="en-US" dirty="0">
                <a:solidFill>
                  <a:srgbClr val="FFC000"/>
                </a:solidFill>
              </a:rPr>
              <a:t>A,#0FH</a:t>
            </a:r>
            <a:endParaRPr lang="en-IN" dirty="0">
              <a:solidFill>
                <a:srgbClr val="FFC000"/>
              </a:solidFill>
            </a:endParaRPr>
          </a:p>
        </p:txBody>
      </p:sp>
    </p:spTree>
    <p:extLst>
      <p:ext uri="{BB962C8B-B14F-4D97-AF65-F5344CB8AC3E}">
        <p14:creationId xmlns:p14="http://schemas.microsoft.com/office/powerpoint/2010/main" val="19345328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9ECE8-5760-728C-FCD6-E35F89A086A0}"/>
              </a:ext>
            </a:extLst>
          </p:cNvPr>
          <p:cNvSpPr>
            <a:spLocks noGrp="1"/>
          </p:cNvSpPr>
          <p:nvPr>
            <p:ph type="title"/>
          </p:nvPr>
        </p:nvSpPr>
        <p:spPr/>
        <p:txBody>
          <a:bodyPr/>
          <a:lstStyle/>
          <a:p>
            <a:r>
              <a:rPr lang="en-US" dirty="0"/>
              <a:t>The First code in memory</a:t>
            </a:r>
            <a:endParaRPr lang="en-IN" dirty="0"/>
          </a:p>
        </p:txBody>
      </p:sp>
      <p:sp>
        <p:nvSpPr>
          <p:cNvPr id="3" name="Content Placeholder 2">
            <a:extLst>
              <a:ext uri="{FF2B5EF4-FFF2-40B4-BE49-F238E27FC236}">
                <a16:creationId xmlns:a16="http://schemas.microsoft.com/office/drawing/2014/main" id="{12120324-0637-0F5A-0503-7673CEBD70B9}"/>
              </a:ext>
            </a:extLst>
          </p:cNvPr>
          <p:cNvSpPr>
            <a:spLocks noGrp="1"/>
          </p:cNvSpPr>
          <p:nvPr>
            <p:ph idx="1"/>
          </p:nvPr>
        </p:nvSpPr>
        <p:spPr/>
        <p:txBody>
          <a:bodyPr/>
          <a:lstStyle/>
          <a:p>
            <a:r>
              <a:rPr lang="en-US" dirty="0"/>
              <a:t>This link contains </a:t>
            </a:r>
            <a:r>
              <a:rPr lang="en-IN" dirty="0"/>
              <a:t>8051 instructions by HEX code.</a:t>
            </a:r>
          </a:p>
          <a:p>
            <a:pPr marL="0" indent="0">
              <a:buNone/>
            </a:pPr>
            <a:r>
              <a:rPr lang="en-IN" dirty="0">
                <a:hlinkClick r:id="rId2"/>
              </a:rPr>
              <a:t>https://www.keil.com/support/man/docs/is51/is51_opcodes.asp?bhcp=1</a:t>
            </a:r>
            <a:endParaRPr lang="en-IN" dirty="0"/>
          </a:p>
          <a:p>
            <a:r>
              <a:rPr lang="en-IN" dirty="0"/>
              <a:t>74 0F</a:t>
            </a:r>
          </a:p>
          <a:p>
            <a:r>
              <a:rPr lang="en-IN" dirty="0"/>
              <a:t>F5 90</a:t>
            </a:r>
          </a:p>
          <a:p>
            <a:endParaRPr lang="en-IN" dirty="0"/>
          </a:p>
          <a:p>
            <a:r>
              <a:rPr lang="en-IN" dirty="0"/>
              <a:t>The above values are the hex values in the data memory for the first code.</a:t>
            </a:r>
          </a:p>
        </p:txBody>
      </p:sp>
    </p:spTree>
    <p:extLst>
      <p:ext uri="{BB962C8B-B14F-4D97-AF65-F5344CB8AC3E}">
        <p14:creationId xmlns:p14="http://schemas.microsoft.com/office/powerpoint/2010/main" val="2188935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F7FD5-6C47-9CF0-9E81-F13403C73D7F}"/>
              </a:ext>
            </a:extLst>
          </p:cNvPr>
          <p:cNvSpPr>
            <a:spLocks noGrp="1"/>
          </p:cNvSpPr>
          <p:nvPr>
            <p:ph type="title"/>
          </p:nvPr>
        </p:nvSpPr>
        <p:spPr/>
        <p:txBody>
          <a:bodyPr/>
          <a:lstStyle/>
          <a:p>
            <a:r>
              <a:rPr lang="en-US" dirty="0"/>
              <a:t>Second Code</a:t>
            </a:r>
            <a:endParaRPr lang="en-IN" dirty="0"/>
          </a:p>
        </p:txBody>
      </p:sp>
      <p:sp>
        <p:nvSpPr>
          <p:cNvPr id="3" name="Content Placeholder 2">
            <a:extLst>
              <a:ext uri="{FF2B5EF4-FFF2-40B4-BE49-F238E27FC236}">
                <a16:creationId xmlns:a16="http://schemas.microsoft.com/office/drawing/2014/main" id="{E2F58827-F3F5-30AD-7235-752AB044E78D}"/>
              </a:ext>
            </a:extLst>
          </p:cNvPr>
          <p:cNvSpPr>
            <a:spLocks noGrp="1"/>
          </p:cNvSpPr>
          <p:nvPr>
            <p:ph idx="1"/>
          </p:nvPr>
        </p:nvSpPr>
        <p:spPr/>
        <p:txBody>
          <a:bodyPr/>
          <a:lstStyle/>
          <a:p>
            <a:pPr marL="514350" indent="-514350">
              <a:buFont typeface="+mj-lt"/>
              <a:buAutoNum type="arabicPeriod"/>
            </a:pPr>
            <a:r>
              <a:rPr lang="en-US" dirty="0"/>
              <a:t>			Org 00H</a:t>
            </a:r>
          </a:p>
          <a:p>
            <a:pPr marL="514350" indent="-514350">
              <a:buFont typeface="+mj-lt"/>
              <a:buAutoNum type="arabicPeriod"/>
            </a:pPr>
            <a:r>
              <a:rPr lang="en-US" dirty="0"/>
              <a:t>Start:	Mov A, #05H</a:t>
            </a:r>
            <a:endParaRPr lang="en-US" dirty="0">
              <a:solidFill>
                <a:schemeClr val="accent6"/>
              </a:solidFill>
            </a:endParaRPr>
          </a:p>
          <a:p>
            <a:pPr marL="514350" indent="-514350">
              <a:buFont typeface="+mj-lt"/>
              <a:buAutoNum type="arabicPeriod"/>
            </a:pPr>
            <a:r>
              <a:rPr lang="en-US" dirty="0"/>
              <a:t>		Add A, #010H </a:t>
            </a:r>
            <a:r>
              <a:rPr lang="en-US" dirty="0">
                <a:solidFill>
                  <a:schemeClr val="accent6"/>
                </a:solidFill>
              </a:rPr>
              <a:t>; Add the value in the accumulator</a:t>
            </a:r>
          </a:p>
          <a:p>
            <a:pPr marL="514350" indent="-514350">
              <a:buFont typeface="+mj-lt"/>
              <a:buAutoNum type="arabicPeriod"/>
            </a:pPr>
            <a:r>
              <a:rPr lang="en-US" dirty="0"/>
              <a:t>		End</a:t>
            </a:r>
          </a:p>
          <a:p>
            <a:endParaRPr lang="en-IN" dirty="0"/>
          </a:p>
          <a:p>
            <a:r>
              <a:rPr lang="en-IN" dirty="0"/>
              <a:t>This is the Accumulator adding two values</a:t>
            </a:r>
          </a:p>
        </p:txBody>
      </p:sp>
    </p:spTree>
    <p:extLst>
      <p:ext uri="{BB962C8B-B14F-4D97-AF65-F5344CB8AC3E}">
        <p14:creationId xmlns:p14="http://schemas.microsoft.com/office/powerpoint/2010/main" val="771423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7EC6D-0C14-A4EB-62F2-9E1AF5538336}"/>
              </a:ext>
            </a:extLst>
          </p:cNvPr>
          <p:cNvSpPr>
            <a:spLocks noGrp="1"/>
          </p:cNvSpPr>
          <p:nvPr>
            <p:ph type="title"/>
          </p:nvPr>
        </p:nvSpPr>
        <p:spPr/>
        <p:txBody>
          <a:bodyPr/>
          <a:lstStyle/>
          <a:p>
            <a:r>
              <a:rPr lang="en-US" dirty="0"/>
              <a:t>DIY</a:t>
            </a:r>
            <a:endParaRPr lang="en-IN" dirty="0"/>
          </a:p>
        </p:txBody>
      </p:sp>
      <p:sp>
        <p:nvSpPr>
          <p:cNvPr id="3" name="Content Placeholder 2">
            <a:extLst>
              <a:ext uri="{FF2B5EF4-FFF2-40B4-BE49-F238E27FC236}">
                <a16:creationId xmlns:a16="http://schemas.microsoft.com/office/drawing/2014/main" id="{5EF25742-9025-4450-3BC9-71E29C1D5D2B}"/>
              </a:ext>
            </a:extLst>
          </p:cNvPr>
          <p:cNvSpPr>
            <a:spLocks noGrp="1"/>
          </p:cNvSpPr>
          <p:nvPr>
            <p:ph idx="1"/>
          </p:nvPr>
        </p:nvSpPr>
        <p:spPr/>
        <p:txBody>
          <a:bodyPr/>
          <a:lstStyle/>
          <a:p>
            <a:r>
              <a:rPr lang="en-US" dirty="0"/>
              <a:t>Do the multiplication of 2 numbers.</a:t>
            </a:r>
            <a:endParaRPr lang="en-IN" dirty="0"/>
          </a:p>
        </p:txBody>
      </p:sp>
    </p:spTree>
    <p:extLst>
      <p:ext uri="{BB962C8B-B14F-4D97-AF65-F5344CB8AC3E}">
        <p14:creationId xmlns:p14="http://schemas.microsoft.com/office/powerpoint/2010/main" val="1960426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B475B-FBF8-85F3-7F86-A4B11D7115FA}"/>
              </a:ext>
            </a:extLst>
          </p:cNvPr>
          <p:cNvSpPr>
            <a:spLocks noGrp="1"/>
          </p:cNvSpPr>
          <p:nvPr>
            <p:ph type="title"/>
          </p:nvPr>
        </p:nvSpPr>
        <p:spPr/>
        <p:txBody>
          <a:bodyPr/>
          <a:lstStyle/>
          <a:p>
            <a:r>
              <a:rPr lang="en-US" dirty="0"/>
              <a:t>Multiply two values</a:t>
            </a:r>
            <a:endParaRPr lang="en-IN" dirty="0"/>
          </a:p>
        </p:txBody>
      </p:sp>
      <p:sp>
        <p:nvSpPr>
          <p:cNvPr id="3" name="Content Placeholder 2">
            <a:extLst>
              <a:ext uri="{FF2B5EF4-FFF2-40B4-BE49-F238E27FC236}">
                <a16:creationId xmlns:a16="http://schemas.microsoft.com/office/drawing/2014/main" id="{AC593862-C6AB-6DF3-DBD2-EA9F9F49539F}"/>
              </a:ext>
            </a:extLst>
          </p:cNvPr>
          <p:cNvSpPr>
            <a:spLocks noGrp="1"/>
          </p:cNvSpPr>
          <p:nvPr>
            <p:ph idx="1"/>
          </p:nvPr>
        </p:nvSpPr>
        <p:spPr/>
        <p:txBody>
          <a:bodyPr/>
          <a:lstStyle/>
          <a:p>
            <a:r>
              <a:rPr lang="en-US" dirty="0"/>
              <a:t> 	Org 00H</a:t>
            </a:r>
          </a:p>
          <a:p>
            <a:r>
              <a:rPr lang="en-US" dirty="0"/>
              <a:t>Start:	Mov A, #03H</a:t>
            </a:r>
          </a:p>
          <a:p>
            <a:r>
              <a:rPr lang="en-US" dirty="0"/>
              <a:t>		Mov B, #02H</a:t>
            </a:r>
          </a:p>
          <a:p>
            <a:r>
              <a:rPr lang="en-US" dirty="0"/>
              <a:t>		</a:t>
            </a:r>
            <a:r>
              <a:rPr lang="en-US" dirty="0" err="1"/>
              <a:t>mul</a:t>
            </a:r>
            <a:r>
              <a:rPr lang="en-US" dirty="0"/>
              <a:t> ab                </a:t>
            </a:r>
            <a:r>
              <a:rPr lang="en-US" dirty="0">
                <a:solidFill>
                  <a:schemeClr val="accent6"/>
                </a:solidFill>
              </a:rPr>
              <a:t>; A and B are multiplied</a:t>
            </a:r>
          </a:p>
          <a:p>
            <a:r>
              <a:rPr lang="en-US" dirty="0"/>
              <a:t>      		End</a:t>
            </a:r>
            <a:endParaRPr lang="en-IN" dirty="0"/>
          </a:p>
        </p:txBody>
      </p:sp>
    </p:spTree>
    <p:extLst>
      <p:ext uri="{BB962C8B-B14F-4D97-AF65-F5344CB8AC3E}">
        <p14:creationId xmlns:p14="http://schemas.microsoft.com/office/powerpoint/2010/main" val="3516089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5F731-3910-3C04-505A-D7501F6522B8}"/>
              </a:ext>
            </a:extLst>
          </p:cNvPr>
          <p:cNvSpPr>
            <a:spLocks noGrp="1"/>
          </p:cNvSpPr>
          <p:nvPr>
            <p:ph type="title"/>
          </p:nvPr>
        </p:nvSpPr>
        <p:spPr/>
        <p:txBody>
          <a:bodyPr/>
          <a:lstStyle/>
          <a:p>
            <a:r>
              <a:rPr lang="en-US" dirty="0"/>
              <a:t>Immediate Data movement</a:t>
            </a:r>
            <a:endParaRPr lang="en-IN" dirty="0"/>
          </a:p>
        </p:txBody>
      </p:sp>
      <p:sp>
        <p:nvSpPr>
          <p:cNvPr id="3" name="Content Placeholder 2">
            <a:extLst>
              <a:ext uri="{FF2B5EF4-FFF2-40B4-BE49-F238E27FC236}">
                <a16:creationId xmlns:a16="http://schemas.microsoft.com/office/drawing/2014/main" id="{0EE4C6EA-7D5A-1F9C-8F8F-264FFAF65834}"/>
              </a:ext>
            </a:extLst>
          </p:cNvPr>
          <p:cNvSpPr>
            <a:spLocks noGrp="1"/>
          </p:cNvSpPr>
          <p:nvPr>
            <p:ph idx="1"/>
          </p:nvPr>
        </p:nvSpPr>
        <p:spPr/>
        <p:txBody>
          <a:bodyPr/>
          <a:lstStyle/>
          <a:p>
            <a:pPr marL="514350" indent="-514350">
              <a:buFont typeface="+mj-lt"/>
              <a:buAutoNum type="arabicPeriod"/>
            </a:pPr>
            <a:r>
              <a:rPr lang="en-IN" dirty="0"/>
              <a:t> 		Org 00H</a:t>
            </a:r>
          </a:p>
          <a:p>
            <a:pPr marL="514350" indent="-514350">
              <a:buFont typeface="+mj-lt"/>
              <a:buAutoNum type="arabicPeriod"/>
            </a:pPr>
            <a:r>
              <a:rPr lang="en-IN" dirty="0"/>
              <a:t>Start:		</a:t>
            </a:r>
            <a:r>
              <a:rPr lang="en-IN" dirty="0">
                <a:solidFill>
                  <a:schemeClr val="accent6"/>
                </a:solidFill>
              </a:rPr>
              <a:t>; Immediate Data (Constants) - REQUIRES '#'</a:t>
            </a:r>
          </a:p>
          <a:p>
            <a:pPr marL="514350" indent="-514350">
              <a:buFont typeface="+mj-lt"/>
              <a:buAutoNum type="arabicPeriod"/>
            </a:pPr>
            <a:r>
              <a:rPr lang="en-IN" dirty="0"/>
              <a:t>MOV A, #45H          </a:t>
            </a:r>
            <a:r>
              <a:rPr lang="en-IN" dirty="0">
                <a:solidFill>
                  <a:schemeClr val="accent6"/>
                </a:solidFill>
              </a:rPr>
              <a:t>; Load Hex value 45 into Accumulator</a:t>
            </a:r>
          </a:p>
          <a:p>
            <a:pPr marL="514350" indent="-514350">
              <a:buFont typeface="+mj-lt"/>
              <a:buAutoNum type="arabicPeriod"/>
            </a:pPr>
            <a:r>
              <a:rPr lang="en-IN" dirty="0"/>
              <a:t>MOV R0, #10          </a:t>
            </a:r>
            <a:r>
              <a:rPr lang="en-IN" dirty="0">
                <a:solidFill>
                  <a:schemeClr val="accent6"/>
                </a:solidFill>
              </a:rPr>
              <a:t>; Load Decimal value 10 into Register R0</a:t>
            </a:r>
          </a:p>
          <a:p>
            <a:pPr marL="514350" indent="-514350">
              <a:buFont typeface="+mj-lt"/>
              <a:buAutoNum type="arabicPeriod"/>
            </a:pPr>
            <a:r>
              <a:rPr lang="en-IN" dirty="0"/>
              <a:t>MOV DPTR, #1234H     </a:t>
            </a:r>
            <a:r>
              <a:rPr lang="en-IN" dirty="0">
                <a:solidFill>
                  <a:schemeClr val="accent6"/>
                </a:solidFill>
              </a:rPr>
              <a:t>; Load 16-bit address into Data Pointer</a:t>
            </a:r>
          </a:p>
          <a:p>
            <a:pPr marL="514350" indent="-514350">
              <a:buFont typeface="+mj-lt"/>
              <a:buAutoNum type="arabicPeriod"/>
            </a:pPr>
            <a:r>
              <a:rPr lang="en-IN" dirty="0"/>
              <a:t>			End</a:t>
            </a:r>
          </a:p>
          <a:p>
            <a:pPr marL="0" indent="0">
              <a:buNone/>
            </a:pPr>
            <a:endParaRPr lang="en-IN" dirty="0"/>
          </a:p>
        </p:txBody>
      </p:sp>
    </p:spTree>
    <p:extLst>
      <p:ext uri="{BB962C8B-B14F-4D97-AF65-F5344CB8AC3E}">
        <p14:creationId xmlns:p14="http://schemas.microsoft.com/office/powerpoint/2010/main" val="2445079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DCD84-74B4-449A-AFB9-BEB5C41D1EEB}"/>
              </a:ext>
            </a:extLst>
          </p:cNvPr>
          <p:cNvSpPr>
            <a:spLocks noGrp="1"/>
          </p:cNvSpPr>
          <p:nvPr>
            <p:ph type="title"/>
          </p:nvPr>
        </p:nvSpPr>
        <p:spPr/>
        <p:txBody>
          <a:bodyPr/>
          <a:lstStyle/>
          <a:p>
            <a:r>
              <a:rPr lang="en-US" dirty="0"/>
              <a:t>Direct Addressing</a:t>
            </a:r>
            <a:endParaRPr lang="en-IN" dirty="0"/>
          </a:p>
        </p:txBody>
      </p:sp>
      <p:sp>
        <p:nvSpPr>
          <p:cNvPr id="3" name="Content Placeholder 2">
            <a:extLst>
              <a:ext uri="{FF2B5EF4-FFF2-40B4-BE49-F238E27FC236}">
                <a16:creationId xmlns:a16="http://schemas.microsoft.com/office/drawing/2014/main" id="{191DB05A-4A34-1A42-92AE-99587299A064}"/>
              </a:ext>
            </a:extLst>
          </p:cNvPr>
          <p:cNvSpPr>
            <a:spLocks noGrp="1"/>
          </p:cNvSpPr>
          <p:nvPr>
            <p:ph idx="1"/>
          </p:nvPr>
        </p:nvSpPr>
        <p:spPr/>
        <p:txBody>
          <a:bodyPr/>
          <a:lstStyle/>
          <a:p>
            <a:pPr marL="514350" indent="-514350">
              <a:buFont typeface="+mj-lt"/>
              <a:buAutoNum type="arabicPeriod"/>
            </a:pPr>
            <a:r>
              <a:rPr lang="en-IN" dirty="0"/>
              <a:t> 	Org 00H</a:t>
            </a:r>
          </a:p>
          <a:p>
            <a:pPr marL="514350" indent="-514350">
              <a:buFont typeface="+mj-lt"/>
              <a:buAutoNum type="arabicPeriod"/>
            </a:pPr>
            <a:r>
              <a:rPr lang="en-IN" dirty="0"/>
              <a:t> Start:  </a:t>
            </a:r>
            <a:r>
              <a:rPr lang="en-IN" dirty="0">
                <a:solidFill>
                  <a:schemeClr val="accent6"/>
                </a:solidFill>
              </a:rPr>
              <a:t>; Direct Addressing (RAM / Registers / Ports) - NO '#'</a:t>
            </a:r>
          </a:p>
          <a:p>
            <a:pPr marL="514350" indent="-514350">
              <a:buFont typeface="+mj-lt"/>
              <a:buAutoNum type="arabicPeriod"/>
            </a:pPr>
            <a:r>
              <a:rPr lang="en-IN" dirty="0"/>
              <a:t>0000| MOV A, </a:t>
            </a:r>
            <a:r>
              <a:rPr lang="en-IN" dirty="0">
                <a:solidFill>
                  <a:schemeClr val="accent6"/>
                </a:solidFill>
              </a:rPr>
              <a:t>P2            ; Copy 8-bit input from Port 2 into Accumulator</a:t>
            </a:r>
          </a:p>
          <a:p>
            <a:pPr marL="514350" indent="-514350">
              <a:buFont typeface="+mj-lt"/>
              <a:buAutoNum type="arabicPeriod"/>
            </a:pPr>
            <a:r>
              <a:rPr lang="en-IN" dirty="0"/>
              <a:t>0002| MOV P1, </a:t>
            </a:r>
            <a:r>
              <a:rPr lang="en-IN" dirty="0">
                <a:solidFill>
                  <a:schemeClr val="accent6"/>
                </a:solidFill>
              </a:rPr>
              <a:t>A            ; Send Accumulator bits out to Port 1 LEDs</a:t>
            </a:r>
          </a:p>
          <a:p>
            <a:pPr marL="514350" indent="-514350">
              <a:buFont typeface="+mj-lt"/>
              <a:buAutoNum type="arabicPeriod"/>
            </a:pPr>
            <a:r>
              <a:rPr lang="en-IN" dirty="0"/>
              <a:t>0004| MOV R1, 30H          </a:t>
            </a:r>
            <a:r>
              <a:rPr lang="en-IN" dirty="0">
                <a:solidFill>
                  <a:schemeClr val="accent6"/>
                </a:solidFill>
              </a:rPr>
              <a:t>; Copy content of RAM location 30H into R1</a:t>
            </a:r>
            <a:r>
              <a:rPr lang="en-IN" dirty="0"/>
              <a:t>	</a:t>
            </a:r>
          </a:p>
          <a:p>
            <a:pPr marL="514350" indent="-514350">
              <a:buFont typeface="+mj-lt"/>
              <a:buAutoNum type="arabicPeriod"/>
            </a:pPr>
            <a:r>
              <a:rPr lang="en-IN" dirty="0"/>
              <a:t>      End</a:t>
            </a:r>
          </a:p>
        </p:txBody>
      </p:sp>
    </p:spTree>
    <p:extLst>
      <p:ext uri="{BB962C8B-B14F-4D97-AF65-F5344CB8AC3E}">
        <p14:creationId xmlns:p14="http://schemas.microsoft.com/office/powerpoint/2010/main" val="1253410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BB268-3F81-D601-F3B1-5B39853E09D1}"/>
              </a:ext>
            </a:extLst>
          </p:cNvPr>
          <p:cNvSpPr>
            <a:spLocks noGrp="1"/>
          </p:cNvSpPr>
          <p:nvPr>
            <p:ph type="title"/>
          </p:nvPr>
        </p:nvSpPr>
        <p:spPr/>
        <p:txBody>
          <a:bodyPr/>
          <a:lstStyle/>
          <a:p>
            <a:r>
              <a:rPr lang="en-US" dirty="0"/>
              <a:t>Indirect Addressing</a:t>
            </a:r>
            <a:endParaRPr lang="en-IN" dirty="0"/>
          </a:p>
        </p:txBody>
      </p:sp>
      <p:sp>
        <p:nvSpPr>
          <p:cNvPr id="3" name="Content Placeholder 2">
            <a:extLst>
              <a:ext uri="{FF2B5EF4-FFF2-40B4-BE49-F238E27FC236}">
                <a16:creationId xmlns:a16="http://schemas.microsoft.com/office/drawing/2014/main" id="{A2FE65F7-5942-5304-5806-6ED342DD7233}"/>
              </a:ext>
            </a:extLst>
          </p:cNvPr>
          <p:cNvSpPr>
            <a:spLocks noGrp="1"/>
          </p:cNvSpPr>
          <p:nvPr>
            <p:ph idx="1"/>
          </p:nvPr>
        </p:nvSpPr>
        <p:spPr/>
        <p:txBody>
          <a:bodyPr/>
          <a:lstStyle/>
          <a:p>
            <a:pPr marL="514350" indent="-514350">
              <a:buFont typeface="+mj-lt"/>
              <a:buAutoNum type="arabicPeriod"/>
            </a:pPr>
            <a:r>
              <a:rPr lang="en-US" dirty="0"/>
              <a:t> 	Org 00H</a:t>
            </a:r>
          </a:p>
          <a:p>
            <a:pPr marL="514350" indent="-514350">
              <a:buFont typeface="+mj-lt"/>
              <a:buAutoNum type="arabicPeriod"/>
            </a:pPr>
            <a:r>
              <a:rPr lang="en-US" dirty="0"/>
              <a:t>      Start: </a:t>
            </a:r>
            <a:r>
              <a:rPr lang="en-US" dirty="0">
                <a:solidFill>
                  <a:schemeClr val="accent6"/>
                </a:solidFill>
              </a:rPr>
              <a:t>; Indirect Addressing (Pointers) - USES '@'</a:t>
            </a:r>
          </a:p>
          <a:p>
            <a:pPr marL="514350" indent="-514350">
              <a:buFont typeface="+mj-lt"/>
              <a:buAutoNum type="arabicPeriod"/>
            </a:pPr>
            <a:r>
              <a:rPr lang="en-US" dirty="0"/>
              <a:t>0000| MOV A, @R0</a:t>
            </a:r>
            <a:r>
              <a:rPr lang="en-US" dirty="0">
                <a:solidFill>
                  <a:schemeClr val="accent6"/>
                </a:solidFill>
              </a:rPr>
              <a:t>           ; Read RAM byte whose address is stored inside R0</a:t>
            </a:r>
          </a:p>
          <a:p>
            <a:pPr marL="514350" indent="-514350">
              <a:buFont typeface="+mj-lt"/>
              <a:buAutoNum type="arabicPeriod"/>
            </a:pPr>
            <a:r>
              <a:rPr lang="en-US" dirty="0"/>
              <a:t>0001| MOV @R1, A           </a:t>
            </a:r>
            <a:r>
              <a:rPr lang="en-US" dirty="0">
                <a:solidFill>
                  <a:schemeClr val="accent6"/>
                </a:solidFill>
              </a:rPr>
              <a:t>; Write Accumulator byte into RAM address stored in R1</a:t>
            </a:r>
          </a:p>
          <a:p>
            <a:pPr marL="514350" indent="-514350">
              <a:buFont typeface="+mj-lt"/>
              <a:buAutoNum type="arabicPeriod"/>
            </a:pPr>
            <a:r>
              <a:rPr lang="en-US" dirty="0"/>
              <a:t>      End</a:t>
            </a:r>
            <a:endParaRPr lang="en-IN" dirty="0"/>
          </a:p>
        </p:txBody>
      </p:sp>
    </p:spTree>
    <p:extLst>
      <p:ext uri="{BB962C8B-B14F-4D97-AF65-F5344CB8AC3E}">
        <p14:creationId xmlns:p14="http://schemas.microsoft.com/office/powerpoint/2010/main" val="16378658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BA17D-C49D-0001-DBBD-DE27F64F874E}"/>
              </a:ext>
            </a:extLst>
          </p:cNvPr>
          <p:cNvSpPr>
            <a:spLocks noGrp="1"/>
          </p:cNvSpPr>
          <p:nvPr>
            <p:ph type="title"/>
          </p:nvPr>
        </p:nvSpPr>
        <p:spPr/>
        <p:txBody>
          <a:bodyPr/>
          <a:lstStyle/>
          <a:p>
            <a:r>
              <a:rPr lang="en-US" dirty="0"/>
              <a:t>Number System</a:t>
            </a:r>
            <a:endParaRPr lang="en-IN" dirty="0"/>
          </a:p>
        </p:txBody>
      </p:sp>
      <p:sp>
        <p:nvSpPr>
          <p:cNvPr id="3" name="Content Placeholder 2">
            <a:extLst>
              <a:ext uri="{FF2B5EF4-FFF2-40B4-BE49-F238E27FC236}">
                <a16:creationId xmlns:a16="http://schemas.microsoft.com/office/drawing/2014/main" id="{7969B6A1-F18C-C7B6-1E0A-7BD3497E29F5}"/>
              </a:ext>
            </a:extLst>
          </p:cNvPr>
          <p:cNvSpPr>
            <a:spLocks noGrp="1"/>
          </p:cNvSpPr>
          <p:nvPr>
            <p:ph idx="1"/>
          </p:nvPr>
        </p:nvSpPr>
        <p:spPr/>
        <p:txBody>
          <a:bodyPr/>
          <a:lstStyle/>
          <a:p>
            <a:r>
              <a:rPr lang="en-US" dirty="0"/>
              <a:t>MOV A, #0FFH         </a:t>
            </a:r>
            <a:r>
              <a:rPr lang="en-US" dirty="0">
                <a:solidFill>
                  <a:schemeClr val="accent6"/>
                </a:solidFill>
              </a:rPr>
              <a:t>; Hexadecimal (Must start with a digit 0-9 if </a:t>
            </a:r>
            <a:r>
              <a:rPr lang="en-US" dirty="0"/>
              <a:t>starting with A-F)</a:t>
            </a:r>
          </a:p>
          <a:p>
            <a:r>
              <a:rPr lang="en-US" dirty="0"/>
              <a:t>MOV A, #11001010B    </a:t>
            </a:r>
            <a:r>
              <a:rPr lang="en-US" dirty="0">
                <a:solidFill>
                  <a:schemeClr val="accent6"/>
                </a:solidFill>
              </a:rPr>
              <a:t>; Binary (suffix 'B')</a:t>
            </a:r>
          </a:p>
          <a:p>
            <a:r>
              <a:rPr lang="en-US" dirty="0"/>
              <a:t>MOV A, #255          </a:t>
            </a:r>
            <a:r>
              <a:rPr lang="en-US" dirty="0">
                <a:solidFill>
                  <a:schemeClr val="accent6"/>
                </a:solidFill>
              </a:rPr>
              <a:t>; Decimal (no suffix)</a:t>
            </a:r>
          </a:p>
          <a:p>
            <a:r>
              <a:rPr lang="en-US" dirty="0"/>
              <a:t>MOV A, #'A'          </a:t>
            </a:r>
            <a:r>
              <a:rPr lang="en-US" dirty="0">
                <a:solidFill>
                  <a:schemeClr val="accent6"/>
                </a:solidFill>
              </a:rPr>
              <a:t>; ASCII character (evaluates to 41H / 65)</a:t>
            </a:r>
            <a:endParaRPr lang="en-IN" dirty="0">
              <a:solidFill>
                <a:schemeClr val="accent6"/>
              </a:solidFill>
            </a:endParaRPr>
          </a:p>
        </p:txBody>
      </p:sp>
    </p:spTree>
    <p:extLst>
      <p:ext uri="{BB962C8B-B14F-4D97-AF65-F5344CB8AC3E}">
        <p14:creationId xmlns:p14="http://schemas.microsoft.com/office/powerpoint/2010/main" val="1779274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13D8B-3C6C-B2D2-EFBD-222622C55908}"/>
              </a:ext>
            </a:extLst>
          </p:cNvPr>
          <p:cNvSpPr>
            <a:spLocks noGrp="1"/>
          </p:cNvSpPr>
          <p:nvPr>
            <p:ph type="title"/>
          </p:nvPr>
        </p:nvSpPr>
        <p:spPr/>
        <p:txBody>
          <a:bodyPr/>
          <a:lstStyle/>
          <a:p>
            <a:r>
              <a:rPr lang="en-US" dirty="0"/>
              <a:t>Binary Pattern in Port 1 LEDs</a:t>
            </a:r>
            <a:endParaRPr lang="en-IN" dirty="0"/>
          </a:p>
        </p:txBody>
      </p:sp>
      <p:sp>
        <p:nvSpPr>
          <p:cNvPr id="3" name="Content Placeholder 2">
            <a:extLst>
              <a:ext uri="{FF2B5EF4-FFF2-40B4-BE49-F238E27FC236}">
                <a16:creationId xmlns:a16="http://schemas.microsoft.com/office/drawing/2014/main" id="{5F7809CC-A71C-3B00-850A-3A06344C115C}"/>
              </a:ext>
            </a:extLst>
          </p:cNvPr>
          <p:cNvSpPr>
            <a:spLocks noGrp="1"/>
          </p:cNvSpPr>
          <p:nvPr>
            <p:ph idx="1"/>
          </p:nvPr>
        </p:nvSpPr>
        <p:spPr/>
        <p:txBody>
          <a:bodyPr/>
          <a:lstStyle/>
          <a:p>
            <a:pPr marL="514350" indent="-514350">
              <a:buFont typeface="+mj-lt"/>
              <a:buAutoNum type="arabicPeriod"/>
            </a:pPr>
            <a:r>
              <a:rPr lang="en-US" dirty="0"/>
              <a:t>	org 00h</a:t>
            </a:r>
          </a:p>
          <a:p>
            <a:pPr marL="514350" indent="-514350">
              <a:buFont typeface="+mj-lt"/>
              <a:buAutoNum type="arabicPeriod"/>
            </a:pPr>
            <a:r>
              <a:rPr lang="en-US" dirty="0"/>
              <a:t>start: </a:t>
            </a:r>
          </a:p>
          <a:p>
            <a:pPr marL="514350" indent="-514350">
              <a:buFont typeface="+mj-lt"/>
              <a:buAutoNum type="arabicPeriod"/>
            </a:pPr>
            <a:r>
              <a:rPr lang="en-US" dirty="0"/>
              <a:t>    DEC P1   </a:t>
            </a:r>
            <a:r>
              <a:rPr lang="en-US" dirty="0">
                <a:solidFill>
                  <a:schemeClr val="accent6"/>
                </a:solidFill>
              </a:rPr>
              <a:t>;Decrease</a:t>
            </a:r>
          </a:p>
          <a:p>
            <a:pPr marL="514350" indent="-514350">
              <a:buFont typeface="+mj-lt"/>
              <a:buAutoNum type="arabicPeriod"/>
            </a:pPr>
            <a:r>
              <a:rPr lang="en-US" dirty="0"/>
              <a:t>    JMP start </a:t>
            </a:r>
            <a:r>
              <a:rPr lang="en-US" dirty="0">
                <a:solidFill>
                  <a:schemeClr val="accent6"/>
                </a:solidFill>
              </a:rPr>
              <a:t>; Jump back to the </a:t>
            </a:r>
            <a:r>
              <a:rPr lang="en-US">
                <a:solidFill>
                  <a:schemeClr val="accent6"/>
                </a:solidFill>
              </a:rPr>
              <a:t>start variable</a:t>
            </a:r>
            <a:endParaRPr lang="en-US" dirty="0">
              <a:solidFill>
                <a:schemeClr val="accent6"/>
              </a:solidFill>
            </a:endParaRPr>
          </a:p>
          <a:p>
            <a:pPr marL="514350" indent="-514350">
              <a:buFont typeface="+mj-lt"/>
              <a:buAutoNum type="arabicPeriod"/>
            </a:pPr>
            <a:r>
              <a:rPr lang="en-US" dirty="0"/>
              <a:t>end</a:t>
            </a:r>
            <a:endParaRPr lang="en-IN" dirty="0"/>
          </a:p>
        </p:txBody>
      </p:sp>
    </p:spTree>
    <p:extLst>
      <p:ext uri="{BB962C8B-B14F-4D97-AF65-F5344CB8AC3E}">
        <p14:creationId xmlns:p14="http://schemas.microsoft.com/office/powerpoint/2010/main" val="12179203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8B76A-0A94-A612-C6F0-F6839A909728}"/>
              </a:ext>
            </a:extLst>
          </p:cNvPr>
          <p:cNvSpPr>
            <a:spLocks noGrp="1"/>
          </p:cNvSpPr>
          <p:nvPr>
            <p:ph type="title"/>
          </p:nvPr>
        </p:nvSpPr>
        <p:spPr/>
        <p:txBody>
          <a:bodyPr/>
          <a:lstStyle/>
          <a:p>
            <a:r>
              <a:rPr lang="en-US" dirty="0"/>
              <a:t>Contd.</a:t>
            </a:r>
            <a:endParaRPr lang="en-IN" dirty="0"/>
          </a:p>
        </p:txBody>
      </p:sp>
      <p:sp>
        <p:nvSpPr>
          <p:cNvPr id="3" name="Content Placeholder 2">
            <a:extLst>
              <a:ext uri="{FF2B5EF4-FFF2-40B4-BE49-F238E27FC236}">
                <a16:creationId xmlns:a16="http://schemas.microsoft.com/office/drawing/2014/main" id="{BEC6E64A-A9E1-8686-DFB5-0C2B161CED19}"/>
              </a:ext>
            </a:extLst>
          </p:cNvPr>
          <p:cNvSpPr>
            <a:spLocks noGrp="1"/>
          </p:cNvSpPr>
          <p:nvPr>
            <p:ph idx="1"/>
          </p:nvPr>
        </p:nvSpPr>
        <p:spPr/>
        <p:txBody>
          <a:bodyPr/>
          <a:lstStyle/>
          <a:p>
            <a:pPr lvl="0"/>
            <a:r>
              <a:rPr lang="en-IN" b="1" dirty="0"/>
              <a:t>DEC P1</a:t>
            </a:r>
            <a:endParaRPr lang="en-IN" dirty="0"/>
          </a:p>
          <a:p>
            <a:pPr lvl="1"/>
            <a:r>
              <a:rPr lang="en-IN" b="1" dirty="0"/>
              <a:t>DEC (Decrement):</a:t>
            </a:r>
            <a:r>
              <a:rPr lang="en-IN" dirty="0"/>
              <a:t> Subtracts 1 from the 8-bit value inside </a:t>
            </a:r>
            <a:r>
              <a:rPr lang="en-IN" b="1" dirty="0"/>
              <a:t>Port 1 (P1)</a:t>
            </a:r>
            <a:r>
              <a:rPr lang="en-IN" dirty="0"/>
              <a:t>.</a:t>
            </a:r>
          </a:p>
          <a:p>
            <a:pPr lvl="1"/>
            <a:r>
              <a:rPr lang="en-IN" dirty="0"/>
              <a:t>On reset, all port pins default to high/1s (FFH or 11111111B).</a:t>
            </a:r>
          </a:p>
          <a:p>
            <a:pPr lvl="2"/>
            <a:r>
              <a:rPr lang="en-IN" b="1" dirty="0"/>
              <a:t>1st run:</a:t>
            </a:r>
            <a:r>
              <a:rPr lang="en-IN" dirty="0"/>
              <a:t> P1 drops from 11111111B (FFH) to 11111110B (FEH).</a:t>
            </a:r>
          </a:p>
          <a:p>
            <a:pPr lvl="2"/>
            <a:r>
              <a:rPr lang="en-IN" b="1" dirty="0"/>
              <a:t>2nd run:</a:t>
            </a:r>
            <a:r>
              <a:rPr lang="en-IN" dirty="0"/>
              <a:t> Drops to 11111101B (FDH).</a:t>
            </a:r>
          </a:p>
          <a:p>
            <a:pPr lvl="2"/>
            <a:r>
              <a:rPr lang="en-IN" b="1" dirty="0"/>
              <a:t>3rd run:</a:t>
            </a:r>
            <a:r>
              <a:rPr lang="en-IN" dirty="0"/>
              <a:t> Drops to 11111100B (FCH), and continues counting down to 00000000B before rolling back over to 11111111B.</a:t>
            </a:r>
          </a:p>
          <a:p>
            <a:pPr lvl="0"/>
            <a:r>
              <a:rPr lang="en-IN" b="1" dirty="0"/>
              <a:t>JMP start</a:t>
            </a:r>
            <a:endParaRPr lang="en-IN" dirty="0"/>
          </a:p>
          <a:p>
            <a:pPr lvl="1"/>
            <a:r>
              <a:rPr lang="en-IN" b="1" dirty="0"/>
              <a:t>JMP (Unconditional Jump):</a:t>
            </a:r>
            <a:r>
              <a:rPr lang="en-IN" dirty="0"/>
              <a:t> Forces the 8051 to jump back to the </a:t>
            </a:r>
            <a:r>
              <a:rPr lang="en-IN" b="1" dirty="0"/>
              <a:t>start:</a:t>
            </a:r>
            <a:r>
              <a:rPr lang="en-IN" dirty="0"/>
              <a:t> label, forming an infinite loop that keeps decrementing P1 forever.</a:t>
            </a:r>
          </a:p>
          <a:p>
            <a:endParaRPr lang="en-IN" dirty="0"/>
          </a:p>
        </p:txBody>
      </p:sp>
    </p:spTree>
    <p:extLst>
      <p:ext uri="{BB962C8B-B14F-4D97-AF65-F5344CB8AC3E}">
        <p14:creationId xmlns:p14="http://schemas.microsoft.com/office/powerpoint/2010/main" val="826451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22EF3-5B8A-7ABE-1CA0-A3EFDD62A691}"/>
              </a:ext>
            </a:extLst>
          </p:cNvPr>
          <p:cNvSpPr>
            <a:spLocks noGrp="1"/>
          </p:cNvSpPr>
          <p:nvPr>
            <p:ph type="title"/>
          </p:nvPr>
        </p:nvSpPr>
        <p:spPr/>
        <p:txBody>
          <a:bodyPr/>
          <a:lstStyle/>
          <a:p>
            <a:r>
              <a:rPr lang="en-US" dirty="0"/>
              <a:t>Switching LED’s on Click</a:t>
            </a:r>
            <a:endParaRPr lang="en-IN" dirty="0"/>
          </a:p>
        </p:txBody>
      </p:sp>
      <p:sp>
        <p:nvSpPr>
          <p:cNvPr id="3" name="Content Placeholder 2">
            <a:extLst>
              <a:ext uri="{FF2B5EF4-FFF2-40B4-BE49-F238E27FC236}">
                <a16:creationId xmlns:a16="http://schemas.microsoft.com/office/drawing/2014/main" id="{3CC1DA17-C92F-DF81-7E2B-BF6D0FF7ECBF}"/>
              </a:ext>
            </a:extLst>
          </p:cNvPr>
          <p:cNvSpPr>
            <a:spLocks noGrp="1"/>
          </p:cNvSpPr>
          <p:nvPr>
            <p:ph idx="1"/>
          </p:nvPr>
        </p:nvSpPr>
        <p:spPr/>
        <p:txBody>
          <a:bodyPr/>
          <a:lstStyle/>
          <a:p>
            <a:pPr marL="514350" indent="-514350">
              <a:buFont typeface="+mj-lt"/>
              <a:buAutoNum type="arabicPeriod"/>
            </a:pPr>
            <a:r>
              <a:rPr lang="en-US" dirty="0"/>
              <a:t>	org 00h</a:t>
            </a:r>
          </a:p>
          <a:p>
            <a:pPr marL="514350" indent="-514350">
              <a:buFont typeface="+mj-lt"/>
              <a:buAutoNum type="arabicPeriod"/>
            </a:pPr>
            <a:r>
              <a:rPr lang="en-US" dirty="0"/>
              <a:t>start:</a:t>
            </a:r>
          </a:p>
          <a:p>
            <a:pPr marL="514350" indent="-514350">
              <a:buFont typeface="+mj-lt"/>
              <a:buAutoNum type="arabicPeriod"/>
            </a:pPr>
            <a:r>
              <a:rPr lang="en-US" dirty="0"/>
              <a:t>MOV P1, P2 </a:t>
            </a:r>
            <a:r>
              <a:rPr lang="en-US" dirty="0">
                <a:solidFill>
                  <a:schemeClr val="accent6"/>
                </a:solidFill>
              </a:rPr>
              <a:t>; move data on P2 pins to P1</a:t>
            </a:r>
          </a:p>
          <a:p>
            <a:pPr marL="514350" indent="-514350">
              <a:buFont typeface="+mj-lt"/>
              <a:buAutoNum type="arabicPeriod"/>
            </a:pPr>
            <a:r>
              <a:rPr lang="en-US" dirty="0"/>
              <a:t>JMP start </a:t>
            </a:r>
            <a:r>
              <a:rPr lang="en-US" dirty="0">
                <a:solidFill>
                  <a:schemeClr val="accent6"/>
                </a:solidFill>
              </a:rPr>
              <a:t>; and repeat</a:t>
            </a:r>
          </a:p>
          <a:p>
            <a:pPr marL="514350" indent="-514350">
              <a:buFont typeface="+mj-lt"/>
              <a:buAutoNum type="arabicPeriod"/>
            </a:pPr>
            <a:r>
              <a:rPr lang="en-US" dirty="0"/>
              <a:t>end</a:t>
            </a:r>
            <a:endParaRPr lang="en-IN" dirty="0"/>
          </a:p>
        </p:txBody>
      </p:sp>
    </p:spTree>
    <p:extLst>
      <p:ext uri="{BB962C8B-B14F-4D97-AF65-F5344CB8AC3E}">
        <p14:creationId xmlns:p14="http://schemas.microsoft.com/office/powerpoint/2010/main" val="2604513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B78CB-2B7F-17FC-9EF9-70EA248592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75B603-C863-9B80-2CA3-90D8CAC3EF42}"/>
              </a:ext>
            </a:extLst>
          </p:cNvPr>
          <p:cNvSpPr>
            <a:spLocks noGrp="1"/>
          </p:cNvSpPr>
          <p:nvPr>
            <p:ph type="title"/>
          </p:nvPr>
        </p:nvSpPr>
        <p:spPr/>
        <p:txBody>
          <a:bodyPr/>
          <a:lstStyle/>
          <a:p>
            <a:r>
              <a:rPr lang="en-US" dirty="0"/>
              <a:t>Assignment</a:t>
            </a:r>
            <a:endParaRPr lang="en-IN" dirty="0"/>
          </a:p>
        </p:txBody>
      </p:sp>
      <p:sp>
        <p:nvSpPr>
          <p:cNvPr id="3" name="Content Placeholder 2">
            <a:extLst>
              <a:ext uri="{FF2B5EF4-FFF2-40B4-BE49-F238E27FC236}">
                <a16:creationId xmlns:a16="http://schemas.microsoft.com/office/drawing/2014/main" id="{252C277D-E5B8-7916-95EE-AEEE4F09CD34}"/>
              </a:ext>
            </a:extLst>
          </p:cNvPr>
          <p:cNvSpPr>
            <a:spLocks noGrp="1"/>
          </p:cNvSpPr>
          <p:nvPr>
            <p:ph idx="1"/>
          </p:nvPr>
        </p:nvSpPr>
        <p:spPr/>
        <p:txBody>
          <a:bodyPr/>
          <a:lstStyle/>
          <a:p>
            <a:pPr marL="514350" indent="-514350">
              <a:buFont typeface="+mj-lt"/>
              <a:buAutoNum type="arabicPeriod"/>
            </a:pPr>
            <a:r>
              <a:rPr lang="en-US" dirty="0"/>
              <a:t>Do the subtraction of 2 numbers.</a:t>
            </a:r>
          </a:p>
          <a:p>
            <a:pPr marL="514350" indent="-514350">
              <a:buFont typeface="+mj-lt"/>
              <a:buAutoNum type="arabicPeriod"/>
            </a:pPr>
            <a:r>
              <a:rPr lang="en-US" dirty="0"/>
              <a:t>Do the division of 2 numbers.</a:t>
            </a:r>
          </a:p>
          <a:p>
            <a:pPr marL="514350" indent="-514350">
              <a:buFont typeface="+mj-lt"/>
              <a:buAutoNum type="arabicPeriod"/>
            </a:pPr>
            <a:r>
              <a:rPr lang="en-US" dirty="0"/>
              <a:t>Do addition with carry.</a:t>
            </a:r>
          </a:p>
          <a:p>
            <a:pPr marL="514350" indent="-514350">
              <a:buFont typeface="+mj-lt"/>
              <a:buAutoNum type="arabicPeriod"/>
            </a:pPr>
            <a:r>
              <a:rPr lang="en-US" dirty="0"/>
              <a:t>Do subtraction with borrow.</a:t>
            </a:r>
            <a:endParaRPr lang="en-IN" dirty="0"/>
          </a:p>
          <a:p>
            <a:pPr marL="514350" indent="-514350">
              <a:buFont typeface="+mj-lt"/>
              <a:buAutoNum type="arabicPeriod"/>
            </a:pPr>
            <a:endParaRPr lang="en-IN" dirty="0"/>
          </a:p>
        </p:txBody>
      </p:sp>
    </p:spTree>
    <p:extLst>
      <p:ext uri="{BB962C8B-B14F-4D97-AF65-F5344CB8AC3E}">
        <p14:creationId xmlns:p14="http://schemas.microsoft.com/office/powerpoint/2010/main" val="10290228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293</TotalTime>
  <Words>1057</Words>
  <Application>Microsoft Office PowerPoint</Application>
  <PresentationFormat>Widescreen</PresentationFormat>
  <Paragraphs>124</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Aptos Display</vt:lpstr>
      <vt:lpstr>Arial</vt:lpstr>
      <vt:lpstr>Calibri</vt:lpstr>
      <vt:lpstr>Office Theme</vt:lpstr>
      <vt:lpstr>IoT Prototyping Laboratory</vt:lpstr>
      <vt:lpstr>Team Code: 3mlkt3i</vt:lpstr>
      <vt:lpstr>Microcontrollers </vt:lpstr>
      <vt:lpstr>Pin Diagram</vt:lpstr>
      <vt:lpstr>Architecture</vt:lpstr>
      <vt:lpstr>Ports</vt:lpstr>
      <vt:lpstr>Contd.</vt:lpstr>
      <vt:lpstr>Installation</vt:lpstr>
      <vt:lpstr>PowerPoint Presentation</vt:lpstr>
      <vt:lpstr>First Code</vt:lpstr>
      <vt:lpstr>Instructions for 8051</vt:lpstr>
      <vt:lpstr>The First code in memory</vt:lpstr>
      <vt:lpstr>Second Code</vt:lpstr>
      <vt:lpstr>DIY</vt:lpstr>
      <vt:lpstr>Multiply two values</vt:lpstr>
      <vt:lpstr>Immediate Data movement</vt:lpstr>
      <vt:lpstr>Direct Addressing</vt:lpstr>
      <vt:lpstr>Indirect Addressing</vt:lpstr>
      <vt:lpstr>Number System</vt:lpstr>
      <vt:lpstr>Binary Pattern in Port 1 LEDs</vt:lpstr>
      <vt:lpstr>Contd.</vt:lpstr>
      <vt:lpstr>Switching LED’s on Click</vt:lpstr>
      <vt:lpstr>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Vipul Negi</dc:creator>
  <cp:lastModifiedBy>Vipul Negi</cp:lastModifiedBy>
  <cp:revision>42</cp:revision>
  <dcterms:created xsi:type="dcterms:W3CDTF">2026-08-02T13:18:55Z</dcterms:created>
  <dcterms:modified xsi:type="dcterms:W3CDTF">2026-08-02T18:12:38Z</dcterms:modified>
</cp:coreProperties>
</file>